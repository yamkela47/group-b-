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6455664"/>
            <a:ext cx="73152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800" b="0">
                <a:solidFill>
                  <a:srgbClr val="5A5A5A"/>
                </a:solidFill>
                <a:latin typeface="Aptos"/>
              </a:defRPr>
            </a:pPr>
            <a:r>
              <a:t>FRAMEWORK FANATICS  •  ITC327W SCHOOL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37376"/>
            <a:ext cx="5029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800" b="1">
                <a:solidFill>
                  <a:srgbClr val="D4AF37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698480" cy="685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3900" b="1">
                <a:solidFill>
                  <a:srgbClr val="D4AF37"/>
                </a:solidFill>
                <a:latin typeface="Aptos"/>
              </a:defRPr>
            </a:pPr>
            <a:r>
              <a:t>CUTTING EDGE SALON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64208"/>
            <a:ext cx="1069848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2200" b="1">
                <a:solidFill>
                  <a:srgbClr val="F8F8F5"/>
                </a:solidFill>
                <a:latin typeface="Aptos"/>
              </a:defRPr>
            </a:pPr>
            <a:r>
              <a:t>MANAGEMENT &amp; BOOKING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1033272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700" b="0">
                <a:solidFill>
                  <a:srgbClr val="B8B8B4"/>
                </a:solidFill>
                <a:latin typeface="Aptos"/>
              </a:defRPr>
            </a:pPr>
            <a:r>
              <a:t>A School-Based Digital Solution for a Real-World Salon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46120"/>
            <a:ext cx="1069848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300" b="1">
                <a:solidFill>
                  <a:srgbClr val="D4AF37"/>
                </a:solidFill>
                <a:latin typeface="Aptos"/>
              </a:defRPr>
            </a:pPr>
            <a:r>
              <a:t>Required Technology Stack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17320" y="3794760"/>
            <a:ext cx="2788920" cy="1280160"/>
          </a:xfrm>
          <a:prstGeom prst="roundRect">
            <a:avLst/>
          </a:prstGeom>
          <a:solidFill>
            <a:srgbClr val="1D1D1F"/>
          </a:solidFill>
          <a:ln w="1397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581912" y="3922776"/>
            <a:ext cx="2459736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Aptos"/>
              </a:defRPr>
            </a:pPr>
            <a:r>
              <a:t>FLUTTER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81912" y="4361688"/>
            <a:ext cx="2459736" cy="5852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120" b="0">
                <a:solidFill>
                  <a:srgbClr val="F8F8F5"/>
                </a:solidFill>
                <a:latin typeface="Aptos"/>
              </a:defRPr>
            </a:pPr>
            <a:r>
              <a:t>Frontend + Backend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3794760"/>
            <a:ext cx="2788920" cy="1280160"/>
          </a:xfrm>
          <a:prstGeom prst="roundRect">
            <a:avLst/>
          </a:prstGeom>
          <a:solidFill>
            <a:srgbClr val="1D1D1F"/>
          </a:solidFill>
          <a:ln w="1397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28031" y="3922776"/>
            <a:ext cx="2459736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Aptos"/>
              </a:defRPr>
            </a:pPr>
            <a:r>
              <a:t>ASP.NET 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8031" y="4361688"/>
            <a:ext cx="2459736" cy="5852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120" b="0">
                <a:solidFill>
                  <a:srgbClr val="F8F8F5"/>
                </a:solidFill>
                <a:latin typeface="Aptos"/>
              </a:defRPr>
            </a:pPr>
            <a:r>
              <a:t>Frontend + Backend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9560" y="3794760"/>
            <a:ext cx="2788920" cy="1280160"/>
          </a:xfrm>
          <a:prstGeom prst="roundRect">
            <a:avLst/>
          </a:prstGeom>
          <a:solidFill>
            <a:srgbClr val="1D1D1F"/>
          </a:solidFill>
          <a:ln w="1397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74152" y="3922776"/>
            <a:ext cx="2459736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Aptos"/>
              </a:defRPr>
            </a:pPr>
            <a:r>
              <a:t>SUPABASE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74152" y="4361688"/>
            <a:ext cx="2459736" cy="5852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120" b="0">
                <a:solidFill>
                  <a:srgbClr val="F8F8F5"/>
                </a:solidFill>
                <a:latin typeface="Aptos"/>
              </a:defRPr>
            </a:pPr>
            <a:r>
              <a:t>Database + Auth + Storage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69280"/>
            <a:ext cx="1069848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200" b="0">
                <a:solidFill>
                  <a:srgbClr val="F8F8F5"/>
                </a:solidFill>
                <a:latin typeface="Aptos"/>
              </a:defRPr>
            </a:pPr>
            <a:r>
              <a:t>Prepared by Framework Fanatics  •  ITC327W  • 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900" b="1">
                <a:solidFill>
                  <a:srgbClr val="D4AF37"/>
                </a:solidFill>
                <a:latin typeface="Aptos"/>
              </a:defRPr>
            </a:pPr>
            <a:r>
              <a:t>ACADEMIC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800" b="1">
                <a:solidFill>
                  <a:srgbClr val="D4AF37"/>
                </a:solidFill>
                <a:latin typeface="Aptos"/>
              </a:defRPr>
            </a:pPr>
            <a:r>
              <a:t>Project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55664"/>
            <a:ext cx="73152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800" b="0">
                <a:solidFill>
                  <a:srgbClr val="5A5A5A"/>
                </a:solidFill>
                <a:latin typeface="Aptos"/>
              </a:defRPr>
            </a:pPr>
            <a:r>
              <a:t>FRAMEWORK FANATICS  •  ITC327W SCHOOL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37376"/>
            <a:ext cx="5029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800" b="1">
                <a:solidFill>
                  <a:srgbClr val="D4AF37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1078992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900" b="1">
                <a:solidFill>
                  <a:srgbClr val="F8F8F5"/>
                </a:solidFill>
                <a:latin typeface="Aptos"/>
              </a:defRPr>
            </a:pPr>
            <a:r>
              <a:t>This project is school-based, but it solves a genuine business problem identified at Cutting Edge Salon.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57400"/>
            <a:ext cx="3383280" cy="3291840"/>
          </a:xfrm>
          <a:prstGeom prst="roundRect">
            <a:avLst/>
          </a:prstGeom>
          <a:solidFill>
            <a:srgbClr val="1D1D1F"/>
          </a:solidFill>
          <a:ln w="1397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2185416"/>
            <a:ext cx="3054096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Aptos"/>
              </a:defRPr>
            </a:pPr>
            <a:r>
              <a:t>ACADEMIC REQUIREMENT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624328"/>
            <a:ext cx="3054096" cy="25968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120" b="0">
                <a:solidFill>
                  <a:srgbClr val="F8F8F5"/>
                </a:solidFill>
                <a:latin typeface="Aptos"/>
              </a:defRPr>
            </a:pPr>
            <a:r>
              <a:t>The project demonstrates our ability to analyse, design, develop, integrate and document a complete information system.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057400"/>
            <a:ext cx="3383280" cy="3291840"/>
          </a:xfrm>
          <a:prstGeom prst="roundRect">
            <a:avLst/>
          </a:prstGeom>
          <a:solidFill>
            <a:srgbClr val="1D1D1F"/>
          </a:solidFill>
          <a:ln w="1397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53712" y="2185416"/>
            <a:ext cx="3054096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Aptos"/>
              </a:defRPr>
            </a:pPr>
            <a:r>
              <a:t>PRESCRIBED TECHNOLOGIES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624328"/>
            <a:ext cx="3054096" cy="25968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120" b="0">
                <a:solidFill>
                  <a:srgbClr val="F8F8F5"/>
                </a:solidFill>
                <a:latin typeface="Aptos"/>
              </a:defRPr>
            </a:pPr>
            <a:r>
              <a:t>Flutter, ASP.NET Core and Supabase are required technologies and must be integrated into the solution.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057400"/>
            <a:ext cx="3383280" cy="3291840"/>
          </a:xfrm>
          <a:prstGeom prst="roundRect">
            <a:avLst/>
          </a:prstGeom>
          <a:solidFill>
            <a:srgbClr val="1D1D1F"/>
          </a:solidFill>
          <a:ln w="1397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11312" y="2185416"/>
            <a:ext cx="3054096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Aptos"/>
              </a:defRPr>
            </a:pPr>
            <a:r>
              <a:t>REAL-WORLD 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2624328"/>
            <a:ext cx="3054096" cy="25968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120" b="0">
                <a:solidFill>
                  <a:srgbClr val="F8F8F5"/>
                </a:solidFill>
                <a:latin typeface="Aptos"/>
              </a:defRPr>
            </a:pPr>
            <a:r>
              <a:t>Although developed for assessment, the system is designed around real salon needs and has potential for further development.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900" b="1">
                <a:solidFill>
                  <a:srgbClr val="D4AF37"/>
                </a:solidFill>
                <a:latin typeface="Aptos"/>
              </a:defRPr>
            </a:pPr>
            <a:r>
              <a:t>WHY THE SALON NEEDS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800" b="1">
                <a:solidFill>
                  <a:srgbClr val="D4AF37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55664"/>
            <a:ext cx="73152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800" b="0">
                <a:solidFill>
                  <a:srgbClr val="5A5A5A"/>
                </a:solidFill>
                <a:latin typeface="Aptos"/>
              </a:defRPr>
            </a:pPr>
            <a:r>
              <a:t>FRAMEWORK FANATICS  •  ITC327W SCHOOL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37376"/>
            <a:ext cx="5029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800" b="1">
                <a:solidFill>
                  <a:srgbClr val="D4AF37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401568" cy="1572768"/>
          </a:xfrm>
          <a:prstGeom prst="roundRect">
            <a:avLst/>
          </a:prstGeom>
          <a:solidFill>
            <a:srgbClr val="1D1D1F"/>
          </a:solidFill>
          <a:ln w="13970">
            <a:solidFill>
              <a:srgbClr val="CD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1" y="1545336"/>
            <a:ext cx="3072384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1">
                <a:solidFill>
                  <a:srgbClr val="CD5555"/>
                </a:solidFill>
                <a:latin typeface="Aptos"/>
              </a:defRPr>
            </a:pPr>
            <a:r>
              <a:t>MANUAL BOOKINGS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1984248"/>
            <a:ext cx="3072384" cy="8778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120" b="0">
                <a:solidFill>
                  <a:srgbClr val="F8F8F5"/>
                </a:solidFill>
                <a:latin typeface="Aptos"/>
              </a:defRPr>
            </a:pPr>
            <a:r>
              <a:t>Paper diaries and telephone calls make appointment management slower.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62272" y="1417320"/>
            <a:ext cx="3401568" cy="1572768"/>
          </a:xfrm>
          <a:prstGeom prst="roundRect">
            <a:avLst/>
          </a:prstGeom>
          <a:solidFill>
            <a:srgbClr val="1D1D1F"/>
          </a:solidFill>
          <a:ln w="13970">
            <a:solidFill>
              <a:srgbClr val="CD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26864" y="1545336"/>
            <a:ext cx="3072384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1">
                <a:solidFill>
                  <a:srgbClr val="CD5555"/>
                </a:solidFill>
                <a:latin typeface="Aptos"/>
              </a:defRPr>
            </a:pPr>
            <a:r>
              <a:t>DOUBLE BOOKINGS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1984248"/>
            <a:ext cx="3072384" cy="8778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120" b="0">
                <a:solidFill>
                  <a:srgbClr val="F8F8F5"/>
                </a:solidFill>
                <a:latin typeface="Aptos"/>
              </a:defRPr>
            </a:pPr>
            <a:r>
              <a:t>Manual scheduling can result in overlapping appointments.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84463" y="1417320"/>
            <a:ext cx="3401568" cy="1572768"/>
          </a:xfrm>
          <a:prstGeom prst="roundRect">
            <a:avLst/>
          </a:prstGeom>
          <a:solidFill>
            <a:srgbClr val="1D1D1F"/>
          </a:solidFill>
          <a:ln w="1397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49055" y="1545336"/>
            <a:ext cx="3072384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Aptos"/>
              </a:defRPr>
            </a:pPr>
            <a:r>
              <a:t>MISSED OPPORTUNITIES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49055" y="1984248"/>
            <a:ext cx="3072384" cy="8778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120" b="0">
                <a:solidFill>
                  <a:srgbClr val="F8F8F5"/>
                </a:solidFill>
                <a:latin typeface="Aptos"/>
              </a:defRPr>
            </a:pPr>
            <a:r>
              <a:t>Customers cannot conveniently view availability and book online.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474720"/>
            <a:ext cx="3401568" cy="1572768"/>
          </a:xfrm>
          <a:prstGeom prst="roundRect">
            <a:avLst/>
          </a:prstGeom>
          <a:solidFill>
            <a:srgbClr val="1D1D1F"/>
          </a:solidFill>
          <a:ln w="1397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1" y="3602736"/>
            <a:ext cx="3072384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Aptos"/>
              </a:defRPr>
            </a:pPr>
            <a:r>
              <a:t>LOST INFORMATION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" y="4041648"/>
            <a:ext cx="3072384" cy="8778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120" b="0">
                <a:solidFill>
                  <a:srgbClr val="F8F8F5"/>
                </a:solidFill>
                <a:latin typeface="Aptos"/>
              </a:defRPr>
            </a:pPr>
            <a:r>
              <a:t>Contact details and booking information can be difficult to maintain.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62272" y="3474720"/>
            <a:ext cx="3401568" cy="1572768"/>
          </a:xfrm>
          <a:prstGeom prst="roundRect">
            <a:avLst/>
          </a:prstGeom>
          <a:solidFill>
            <a:srgbClr val="1D1D1F"/>
          </a:solidFill>
          <a:ln w="1397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26864" y="3602736"/>
            <a:ext cx="3072384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Aptos"/>
              </a:defRPr>
            </a:pPr>
            <a:r>
              <a:t>LIMITED MANAGEMENT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26864" y="4041648"/>
            <a:ext cx="3072384" cy="8778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120" b="0">
                <a:solidFill>
                  <a:srgbClr val="F8F8F5"/>
                </a:solidFill>
                <a:latin typeface="Aptos"/>
              </a:defRPr>
            </a:pPr>
            <a:r>
              <a:t>The owner cannot easily monitor bookings and staff schedules.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84463" y="3474720"/>
            <a:ext cx="3401568" cy="1572768"/>
          </a:xfrm>
          <a:prstGeom prst="roundRect">
            <a:avLst/>
          </a:prstGeom>
          <a:solidFill>
            <a:srgbClr val="1D1D1F"/>
          </a:solidFill>
          <a:ln w="1397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49055" y="3602736"/>
            <a:ext cx="3072384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Aptos"/>
              </a:defRPr>
            </a:pPr>
            <a:r>
              <a:t>NO DIGITAL PROMOTION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49055" y="4041648"/>
            <a:ext cx="3072384" cy="8778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120" b="0">
                <a:solidFill>
                  <a:srgbClr val="F8F8F5"/>
                </a:solidFill>
                <a:latin typeface="Aptos"/>
              </a:defRPr>
            </a:pPr>
            <a:r>
              <a:t>Services such as Cut &amp; Dye are harder to promote through the manual process.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900" b="1">
                <a:solidFill>
                  <a:srgbClr val="D4AF37"/>
                </a:solidFill>
                <a:latin typeface="Aptos"/>
              </a:defRPr>
            </a:pPr>
            <a:r>
              <a:t>DIGITAL TRANSFORMATION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800" b="1">
                <a:solidFill>
                  <a:srgbClr val="D4AF37"/>
                </a:solidFill>
                <a:latin typeface="Aptos"/>
              </a:defRPr>
            </a:pPr>
            <a:r>
              <a:t>Our 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55664"/>
            <a:ext cx="73152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800" b="0">
                <a:solidFill>
                  <a:srgbClr val="5A5A5A"/>
                </a:solidFill>
                <a:latin typeface="Aptos"/>
              </a:defRPr>
            </a:pPr>
            <a:r>
              <a:t>FRAMEWORK FANATICS  •  ITC327W SCHOOL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37376"/>
            <a:ext cx="5029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800" b="1">
                <a:solidFill>
                  <a:srgbClr val="D4AF37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53312"/>
            <a:ext cx="1069848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800" b="1">
                <a:solidFill>
                  <a:srgbClr val="F8F8F5"/>
                </a:solidFill>
                <a:latin typeface="Aptos"/>
              </a:defRPr>
            </a:pPr>
            <a:r>
              <a:t>One integrated system that improves the experience for customers, stylists and management.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65960"/>
            <a:ext cx="5074920" cy="1353312"/>
          </a:xfrm>
          <a:prstGeom prst="roundRect">
            <a:avLst/>
          </a:prstGeom>
          <a:solidFill>
            <a:srgbClr val="1D1D1F"/>
          </a:solidFill>
          <a:ln w="1397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2093976"/>
            <a:ext cx="4745736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Aptos"/>
              </a:defRPr>
            </a:pPr>
            <a:r>
              <a:t>CUSTOMERS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532888"/>
            <a:ext cx="4745736" cy="6583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120" b="0">
                <a:solidFill>
                  <a:srgbClr val="F8F8F5"/>
                </a:solidFill>
                <a:latin typeface="Aptos"/>
              </a:defRPr>
            </a:pPr>
            <a:r>
              <a:t>Browse services and prices, choose a stylist, book online, select cash/card and cancel appointments.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965960"/>
            <a:ext cx="5074920" cy="1353312"/>
          </a:xfrm>
          <a:prstGeom prst="roundRect">
            <a:avLst/>
          </a:prstGeom>
          <a:solidFill>
            <a:srgbClr val="1D1D1F"/>
          </a:solidFill>
          <a:ln w="1397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28231" y="2093976"/>
            <a:ext cx="4745736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Aptos"/>
              </a:defRPr>
            </a:pPr>
            <a:r>
              <a:t>STYLISTS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1" y="2532888"/>
            <a:ext cx="4745736" cy="6583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120" b="0">
                <a:solidFill>
                  <a:srgbClr val="F8F8F5"/>
                </a:solidFill>
                <a:latin typeface="Aptos"/>
              </a:defRPr>
            </a:pPr>
            <a:r>
              <a:t>Access organised appointment information and reduce overlapping bookings.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03320"/>
            <a:ext cx="5074920" cy="1353312"/>
          </a:xfrm>
          <a:prstGeom prst="roundRect">
            <a:avLst/>
          </a:prstGeom>
          <a:solidFill>
            <a:srgbClr val="1D1D1F"/>
          </a:solidFill>
          <a:ln w="1397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6112" y="3831335"/>
            <a:ext cx="4745736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Aptos"/>
              </a:defRPr>
            </a:pPr>
            <a:r>
              <a:t>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270248"/>
            <a:ext cx="4745736" cy="6583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120" b="0">
                <a:solidFill>
                  <a:srgbClr val="F8F8F5"/>
                </a:solidFill>
                <a:latin typeface="Aptos"/>
              </a:defRPr>
            </a:pPr>
            <a:r>
              <a:t>Manage appointments, stylists, services, promotions and operational information.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703320"/>
            <a:ext cx="5074920" cy="1353312"/>
          </a:xfrm>
          <a:prstGeom prst="roundRect">
            <a:avLst/>
          </a:prstGeom>
          <a:solidFill>
            <a:srgbClr val="1D1D1F"/>
          </a:solidFill>
          <a:ln w="1397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28231" y="3831335"/>
            <a:ext cx="4745736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Aptos"/>
              </a:defRPr>
            </a:pPr>
            <a:r>
              <a:t>BUSINESS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1" y="4270248"/>
            <a:ext cx="4745736" cy="6583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120" b="0">
                <a:solidFill>
                  <a:srgbClr val="F8F8F5"/>
                </a:solidFill>
                <a:latin typeface="Aptos"/>
              </a:defRPr>
            </a:pPr>
            <a:r>
              <a:t>Create a professional digital presence with a premium luxury-style interface.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900" b="1">
                <a:solidFill>
                  <a:srgbClr val="D4AF37"/>
                </a:solidFill>
                <a:latin typeface="Aptos"/>
              </a:defRPr>
            </a:pPr>
            <a:r>
              <a:t>ALL THREE TECHNOLOGIES ARE COMPULSORY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800" b="1">
                <a:solidFill>
                  <a:srgbClr val="D4AF37"/>
                </a:solidFill>
                <a:latin typeface="Aptos"/>
              </a:defRPr>
            </a:pPr>
            <a:r>
              <a:t>Required Technology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55664"/>
            <a:ext cx="73152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800" b="0">
                <a:solidFill>
                  <a:srgbClr val="5A5A5A"/>
                </a:solidFill>
                <a:latin typeface="Aptos"/>
              </a:defRPr>
            </a:pPr>
            <a:r>
              <a:t>FRAMEWORK FANATICS  •  ITC327W SCHOOL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37376"/>
            <a:ext cx="5029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800" b="1">
                <a:solidFill>
                  <a:srgbClr val="D4AF37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3383280" cy="4389120"/>
          </a:xfrm>
          <a:prstGeom prst="roundRect">
            <a:avLst/>
          </a:prstGeom>
          <a:solidFill>
            <a:srgbClr val="1D1D1F"/>
          </a:solidFill>
          <a:ln w="1397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1499616"/>
            <a:ext cx="3054096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Aptos"/>
              </a:defRPr>
            </a:pPr>
            <a:r>
              <a:t>FLUTTER</a:t>
            </a:r>
            <a:br/>
            <a:r>
              <a:t>FRONTEND + 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938528"/>
            <a:ext cx="3054096" cy="36941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120" b="0">
                <a:solidFill>
                  <a:srgbClr val="F8F8F5"/>
                </a:solidFill>
                <a:latin typeface="Aptos"/>
              </a:defRPr>
            </a:pPr>
            <a:r>
              <a:t>Frontend responsibilities:</a:t>
            </a:r>
            <a:br/>
            <a:r>
              <a:t>• Customer screens</a:t>
            </a:r>
            <a:br/>
            <a:r>
              <a:t>• Booking interface</a:t>
            </a:r>
            <a:br/>
            <a:r>
              <a:t>• Forms and navigation</a:t>
            </a:r>
            <a:br/>
            <a:r>
              <a:t>• Responsive UI</a:t>
            </a:r>
            <a:br/>
            <a:br/>
            <a:r>
              <a:t>Backend/application responsibilities:</a:t>
            </a:r>
            <a:br/>
            <a:r>
              <a:t>• State management</a:t>
            </a:r>
            <a:br/>
            <a:r>
              <a:t>• Validation</a:t>
            </a:r>
            <a:br/>
            <a:r>
              <a:t>• Application logic</a:t>
            </a:r>
            <a:br/>
            <a:r>
              <a:t>• Data processing</a:t>
            </a:r>
            <a:br/>
            <a:r>
              <a:t>• API/database communication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13632" y="3154680"/>
            <a:ext cx="41148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2400" b="1">
                <a:solidFill>
                  <a:srgbClr val="D4AF37"/>
                </a:solidFill>
                <a:latin typeface="Aptos"/>
              </a:defRPr>
            </a:pPr>
            <a:r>
              <a:t>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371600"/>
            <a:ext cx="3383280" cy="4389120"/>
          </a:xfrm>
          <a:prstGeom prst="roundRect">
            <a:avLst/>
          </a:prstGeom>
          <a:solidFill>
            <a:srgbClr val="1D1D1F"/>
          </a:solidFill>
          <a:ln w="1397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499616"/>
            <a:ext cx="3054096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Aptos"/>
              </a:defRPr>
            </a:pPr>
            <a:r>
              <a:t>ASP.NET CORE</a:t>
            </a:r>
            <a:br/>
            <a:r>
              <a:t>FRONTEND + 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938528"/>
            <a:ext cx="3054096" cy="36941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120" b="0">
                <a:solidFill>
                  <a:srgbClr val="F8F8F5"/>
                </a:solidFill>
                <a:latin typeface="Aptos"/>
              </a:defRPr>
            </a:pPr>
            <a:r>
              <a:t>Frontend responsibilities:</a:t>
            </a:r>
            <a:br/>
            <a:r>
              <a:t>• Web/admin-facing views</a:t>
            </a:r>
            <a:br/>
            <a:r>
              <a:t>• Management interfaces</a:t>
            </a:r>
            <a:br/>
            <a:br/>
            <a:r>
              <a:t>Backend responsibilities:</a:t>
            </a:r>
            <a:br/>
            <a:r>
              <a:t>• APIs and controllers</a:t>
            </a:r>
            <a:br/>
            <a:r>
              <a:t>• Booking business rules</a:t>
            </a:r>
            <a:br/>
            <a:r>
              <a:t>• CRUD operations</a:t>
            </a:r>
            <a:br/>
            <a:r>
              <a:t>• Conflict prevention</a:t>
            </a:r>
            <a:br/>
            <a:r>
              <a:t>• Authentication integration</a:t>
            </a:r>
            <a:br/>
            <a:r>
              <a:t>• Email/management services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3154680"/>
            <a:ext cx="41148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2400" b="1">
                <a:solidFill>
                  <a:srgbClr val="D4AF37"/>
                </a:solidFill>
                <a:latin typeface="Aptos"/>
              </a:defRPr>
            </a:pPr>
            <a:r>
              <a:t>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02752" y="1371600"/>
            <a:ext cx="3383280" cy="4389120"/>
          </a:xfrm>
          <a:prstGeom prst="roundRect">
            <a:avLst/>
          </a:prstGeom>
          <a:solidFill>
            <a:srgbClr val="1D1D1F"/>
          </a:solidFill>
          <a:ln w="1397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67344" y="1499616"/>
            <a:ext cx="3054096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Aptos"/>
              </a:defRPr>
            </a:pPr>
            <a:r>
              <a:t>SUPABASE</a:t>
            </a:r>
            <a:br/>
            <a:r>
              <a:t>DATA SERVICES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7344" y="1938528"/>
            <a:ext cx="3054096" cy="36941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120" b="0">
                <a:solidFill>
                  <a:srgbClr val="F8F8F5"/>
                </a:solidFill>
                <a:latin typeface="Aptos"/>
              </a:defRPr>
            </a:pPr>
            <a:r>
              <a:t>• PostgreSQL database</a:t>
            </a:r>
            <a:br/>
            <a:r>
              <a:t>• User authentication</a:t>
            </a:r>
            <a:br/>
            <a:r>
              <a:t>• Cloud storage</a:t>
            </a:r>
            <a:br/>
            <a:r>
              <a:t>• Row Level Security</a:t>
            </a:r>
            <a:br/>
            <a:r>
              <a:t>• Data persistence</a:t>
            </a:r>
            <a:br/>
            <a:r>
              <a:t>• Real-time capabilities</a:t>
            </a:r>
            <a:br/>
            <a:br/>
            <a:r>
              <a:t>Supabase supports the Flutter and ASP.NET Core parts of the system.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897880"/>
            <a:ext cx="1069848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250" b="0">
                <a:solidFill>
                  <a:srgbClr val="B8B8B4"/>
                </a:solidFill>
                <a:latin typeface="Aptos"/>
              </a:defRPr>
            </a:pPr>
            <a:r>
              <a:t>The project demonstrates how Flutter and ASP.NET Core can each contribute to both frontend and backend responsibilities.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900" b="1">
                <a:solidFill>
                  <a:srgbClr val="D4AF37"/>
                </a:solidFill>
                <a:latin typeface="Aptos"/>
              </a:defRPr>
            </a:pPr>
            <a:r>
              <a:t>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800" b="1">
                <a:solidFill>
                  <a:srgbClr val="D4AF37"/>
                </a:solidFill>
                <a:latin typeface="Aptos"/>
              </a:defRPr>
            </a:pPr>
            <a:r>
              <a:t>How the Technologies Work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55664"/>
            <a:ext cx="73152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800" b="0">
                <a:solidFill>
                  <a:srgbClr val="5A5A5A"/>
                </a:solidFill>
                <a:latin typeface="Aptos"/>
              </a:defRPr>
            </a:pPr>
            <a:r>
              <a:t>FRAMEWORK FANATICS  •  ITC327W SCHOOL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37376"/>
            <a:ext cx="5029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800" b="1">
                <a:solidFill>
                  <a:srgbClr val="D4AF37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2011680" cy="3429000"/>
          </a:xfrm>
          <a:prstGeom prst="roundRect">
            <a:avLst/>
          </a:prstGeom>
          <a:solidFill>
            <a:srgbClr val="1D1D1F"/>
          </a:solidFill>
          <a:ln w="1397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1819656"/>
            <a:ext cx="1682496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258568"/>
            <a:ext cx="1682496" cy="27340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120" b="0">
                <a:solidFill>
                  <a:srgbClr val="F8F8F5"/>
                </a:solidFill>
                <a:latin typeface="Aptos"/>
              </a:defRPr>
            </a:pPr>
            <a:r>
              <a:t>FLUTTER</a:t>
            </a:r>
            <a:br/>
            <a:br/>
            <a:r>
              <a:t>Customer interacts with the booking application.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96312" y="3154680"/>
            <a:ext cx="347472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2000" b="1">
                <a:solidFill>
                  <a:srgbClr val="D4AF3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39" y="1691640"/>
            <a:ext cx="2011680" cy="3429000"/>
          </a:xfrm>
          <a:prstGeom prst="roundRect">
            <a:avLst/>
          </a:prstGeom>
          <a:solidFill>
            <a:srgbClr val="1D1D1F"/>
          </a:solidFill>
          <a:ln w="1397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99232" y="1819656"/>
            <a:ext cx="1682496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9232" y="2258568"/>
            <a:ext cx="1682496" cy="27340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120" b="0">
                <a:solidFill>
                  <a:srgbClr val="F8F8F5"/>
                </a:solidFill>
                <a:latin typeface="Aptos"/>
              </a:defRPr>
            </a:pPr>
            <a:r>
              <a:t>APP LOGIC</a:t>
            </a:r>
            <a:br/>
            <a:br/>
            <a:r>
              <a:t>Flutter validates input and manages application state.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8031" y="3154680"/>
            <a:ext cx="347472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2000" b="1">
                <a:solidFill>
                  <a:srgbClr val="D4AF3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6359" y="1691640"/>
            <a:ext cx="2011680" cy="3429000"/>
          </a:xfrm>
          <a:prstGeom prst="roundRect">
            <a:avLst/>
          </a:prstGeom>
          <a:solidFill>
            <a:srgbClr val="1D1D1F"/>
          </a:solidFill>
          <a:ln w="1397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30951" y="1819656"/>
            <a:ext cx="1682496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0951" y="2258568"/>
            <a:ext cx="1682496" cy="27340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120" b="0">
                <a:solidFill>
                  <a:srgbClr val="F8F8F5"/>
                </a:solidFill>
                <a:latin typeface="Aptos"/>
              </a:defRPr>
            </a:pPr>
            <a:r>
              <a:t>ASP.NET CORE</a:t>
            </a:r>
            <a:br/>
            <a:br/>
            <a:r>
              <a:t>Web/API components process server-side booking rules.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9752" y="3154680"/>
            <a:ext cx="347472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2000" b="1">
                <a:solidFill>
                  <a:srgbClr val="D4AF3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1691640"/>
            <a:ext cx="2011680" cy="3429000"/>
          </a:xfrm>
          <a:prstGeom prst="roundRect">
            <a:avLst/>
          </a:prstGeom>
          <a:solidFill>
            <a:srgbClr val="1D1D1F"/>
          </a:solidFill>
          <a:ln w="1397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62671" y="1819656"/>
            <a:ext cx="1682496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62671" y="2258568"/>
            <a:ext cx="1682496" cy="27340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120" b="0">
                <a:solidFill>
                  <a:srgbClr val="F8F8F5"/>
                </a:solidFill>
                <a:latin typeface="Aptos"/>
              </a:defRPr>
            </a:pPr>
            <a:r>
              <a:t>SUPABASE</a:t>
            </a:r>
            <a:br/>
            <a:br/>
            <a:r>
              <a:t>Booking, customer and stylist data is stored/retrieved.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91472" y="3154680"/>
            <a:ext cx="347472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2000" b="1">
                <a:solidFill>
                  <a:srgbClr val="D4AF3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29800" y="1691640"/>
            <a:ext cx="2011680" cy="3429000"/>
          </a:xfrm>
          <a:prstGeom prst="roundRect">
            <a:avLst/>
          </a:prstGeom>
          <a:solidFill>
            <a:srgbClr val="1D1D1F"/>
          </a:solidFill>
          <a:ln w="1397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994392" y="1819656"/>
            <a:ext cx="1682496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94392" y="2258568"/>
            <a:ext cx="1682496" cy="27340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120" b="0">
                <a:solidFill>
                  <a:srgbClr val="F8F8F5"/>
                </a:solidFill>
                <a:latin typeface="Aptos"/>
              </a:defRPr>
            </a:pPr>
            <a:r>
              <a:t>RESULT</a:t>
            </a:r>
            <a:br/>
            <a:br/>
            <a:r>
              <a:t>Flutter or ASP.NET interfaces display updated information.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486400"/>
            <a:ext cx="1069848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 b="1">
                <a:solidFill>
                  <a:srgbClr val="D4AF37"/>
                </a:solidFill>
                <a:latin typeface="Aptos"/>
              </a:defRPr>
            </a:pPr>
            <a:r>
              <a:t>The goal is not to replace one required technology with another — it is to integrate all three successfully.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900" b="1">
                <a:solidFill>
                  <a:srgbClr val="D4AF37"/>
                </a:solidFill>
                <a:latin typeface="Aptos"/>
              </a:defRPr>
            </a:pPr>
            <a:r>
              <a:t>WHAT THE SYSTEM MUST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800" b="1">
                <a:solidFill>
                  <a:srgbClr val="D4AF37"/>
                </a:solidFill>
                <a:latin typeface="Aptos"/>
              </a:defRPr>
            </a:pPr>
            <a:r>
              <a:t>Functional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91656"/>
            <a:ext cx="73152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800" b="0">
                <a:solidFill>
                  <a:srgbClr val="5A5A5A"/>
                </a:solidFill>
                <a:latin typeface="Aptos"/>
              </a:defRPr>
            </a:pPr>
            <a:r>
              <a:t>FRAMEWORK FANATICS  •  ITC327W SCHOOL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37376"/>
            <a:ext cx="5029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800" b="1">
                <a:solidFill>
                  <a:srgbClr val="D4AF37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188720"/>
            <a:ext cx="4745736" cy="3419856"/>
          </a:xfrm>
          <a:prstGeom prst="roundRect">
            <a:avLst/>
          </a:prstGeom>
          <a:solidFill>
            <a:srgbClr val="1D1D1F"/>
          </a:solidFill>
          <a:ln w="1397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545336"/>
            <a:ext cx="4745736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Aptos"/>
              </a:defRPr>
            </a:pPr>
            <a:r>
              <a:rPr dirty="0"/>
              <a:t>CUSTOMER FUNCTIONS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984248"/>
            <a:ext cx="4745736" cy="36941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120" b="0">
                <a:solidFill>
                  <a:srgbClr val="F8F8F5"/>
                </a:solidFill>
                <a:latin typeface="Aptos"/>
              </a:defRPr>
            </a:pPr>
            <a:r>
              <a:t>• View service catalogue and pricing</a:t>
            </a:r>
            <a:br/>
            <a:r>
              <a:t>• View stylist profiles</a:t>
            </a:r>
            <a:br/>
            <a:r>
              <a:t>• Book an appointment</a:t>
            </a:r>
            <a:br/>
            <a:r>
              <a:t>• Prevent double booking</a:t>
            </a:r>
            <a:br/>
            <a:r>
              <a:t>• Receive confirmation email</a:t>
            </a:r>
            <a:br/>
            <a:r>
              <a:t>• Cancel online</a:t>
            </a:r>
            <a:br/>
            <a:r>
              <a:t>• Select cash or card</a:t>
            </a:r>
            <a:br/>
            <a:r>
              <a:t>• View contact details and Google Maps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188720"/>
            <a:ext cx="4910328" cy="3419856"/>
          </a:xfrm>
          <a:prstGeom prst="roundRect">
            <a:avLst/>
          </a:prstGeom>
          <a:solidFill>
            <a:srgbClr val="1D1D1F"/>
          </a:solidFill>
          <a:ln w="1397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19672" y="1618488"/>
            <a:ext cx="4745736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Aptos"/>
              </a:defRPr>
            </a:pPr>
            <a:r>
              <a:rPr dirty="0"/>
              <a:t>MANAGEMENT FUNCTIONS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1892808"/>
            <a:ext cx="4309693" cy="238335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120" b="0">
                <a:solidFill>
                  <a:srgbClr val="F8F8F5"/>
                </a:solidFill>
                <a:latin typeface="Aptos"/>
              </a:defRPr>
            </a:pPr>
            <a:r>
              <a:t>• Manage bookings</a:t>
            </a:r>
            <a:br/>
            <a:r>
              <a:t>• Manage stylist profiles</a:t>
            </a:r>
            <a:br/>
            <a:r>
              <a:t>• Promote Cut &amp; Dye</a:t>
            </a:r>
            <a:br/>
            <a:r>
              <a:t>• Display operating hours</a:t>
            </a:r>
            <a:br/>
            <a:r>
              <a:t>• Manage required pages</a:t>
            </a:r>
            <a:br/>
            <a:r>
              <a:t>• Maintain salon information</a:t>
            </a:r>
            <a:br/>
            <a:r>
              <a:t>• Support reminders, gallery and social links as lower priorities</a:t>
            </a:r>
          </a:p>
        </p:txBody>
      </p:sp>
      <p:sp>
        <p:nvSpPr>
          <p:cNvPr id="13" name="Rounded Rectangle 9">
            <a:extLst>
              <a:ext uri="{FF2B5EF4-FFF2-40B4-BE49-F238E27FC236}">
                <a16:creationId xmlns:a16="http://schemas.microsoft.com/office/drawing/2014/main" id="{88192BBE-600F-4CD9-8C15-0BE66A343756}"/>
              </a:ext>
            </a:extLst>
          </p:cNvPr>
          <p:cNvSpPr/>
          <p:nvPr/>
        </p:nvSpPr>
        <p:spPr>
          <a:xfrm>
            <a:off x="1344706" y="4855464"/>
            <a:ext cx="8812305" cy="1536192"/>
          </a:xfrm>
          <a:prstGeom prst="roundRect">
            <a:avLst/>
          </a:prstGeom>
          <a:solidFill>
            <a:srgbClr val="1D1D1F"/>
          </a:solidFill>
          <a:ln w="1397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b="1" dirty="0">
                <a:solidFill>
                  <a:schemeClr val="bg2">
                    <a:lumMod val="50000"/>
                  </a:schemeClr>
                </a:solidFill>
              </a:rPr>
              <a:t>STYLIST FUNCTIONS</a:t>
            </a:r>
          </a:p>
          <a:p>
            <a:pPr algn="ctr"/>
            <a:r>
              <a:rPr lang="en-GB" dirty="0"/>
              <a:t>• View assigned appointments and daily schedule   • View customer/service booking details   • Check availability and appointment times   • Support organised service delivery</a:t>
            </a:r>
          </a:p>
          <a:p>
            <a:pPr algn="ctr"/>
            <a:endParaRPr lang="en-ZA" dirty="0"/>
          </a:p>
          <a:p>
            <a:pPr algn="ctr"/>
            <a:endParaRPr lang="en-ZA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900" b="1">
                <a:solidFill>
                  <a:srgbClr val="D4AF37"/>
                </a:solidFill>
                <a:latin typeface="Aptos"/>
              </a:defRPr>
            </a:pPr>
            <a:r>
              <a:t>SIMPLE AND CONVENIENT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800" b="1">
                <a:solidFill>
                  <a:srgbClr val="D4AF37"/>
                </a:solidFill>
                <a:latin typeface="Aptos"/>
              </a:defRPr>
            </a:pPr>
            <a:r>
              <a:t>Customer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55664"/>
            <a:ext cx="73152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800" b="0">
                <a:solidFill>
                  <a:srgbClr val="5A5A5A"/>
                </a:solidFill>
                <a:latin typeface="Aptos"/>
              </a:defRPr>
            </a:pPr>
            <a:r>
              <a:t>FRAMEWORK FANATICS  •  ITC327W SCHOOL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37376"/>
            <a:ext cx="5029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800" b="1">
                <a:solidFill>
                  <a:srgbClr val="D4AF37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2011680" cy="2971800"/>
          </a:xfrm>
          <a:prstGeom prst="roundRect">
            <a:avLst/>
          </a:prstGeom>
          <a:solidFill>
            <a:srgbClr val="1D1D1F"/>
          </a:solidFill>
          <a:ln w="1397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1956816"/>
            <a:ext cx="1682496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395728"/>
            <a:ext cx="1682496" cy="22768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120" b="0">
                <a:solidFill>
                  <a:srgbClr val="F8F8F5"/>
                </a:solidFill>
                <a:latin typeface="Aptos"/>
              </a:defRPr>
            </a:pPr>
            <a:r>
              <a:t>DISCOVER</a:t>
            </a:r>
            <a:br/>
            <a:br/>
            <a:r>
              <a:t>Services &amp; prices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96312" y="3063240"/>
            <a:ext cx="347472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2000" b="1">
                <a:solidFill>
                  <a:srgbClr val="D4AF3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39" y="1828800"/>
            <a:ext cx="2011680" cy="2971800"/>
          </a:xfrm>
          <a:prstGeom prst="roundRect">
            <a:avLst/>
          </a:prstGeom>
          <a:solidFill>
            <a:srgbClr val="1D1D1F"/>
          </a:solidFill>
          <a:ln w="1397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99232" y="1956816"/>
            <a:ext cx="1682496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9232" y="2395728"/>
            <a:ext cx="1682496" cy="22768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120" b="0">
                <a:solidFill>
                  <a:srgbClr val="F8F8F5"/>
                </a:solidFill>
                <a:latin typeface="Aptos"/>
              </a:defRPr>
            </a:pPr>
            <a:r>
              <a:t>SELECT</a:t>
            </a:r>
            <a:br/>
            <a:br/>
            <a:r>
              <a:t>Stylist, date &amp; 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8031" y="3063240"/>
            <a:ext cx="347472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2000" b="1">
                <a:solidFill>
                  <a:srgbClr val="D4AF3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6359" y="1828800"/>
            <a:ext cx="2011680" cy="2971800"/>
          </a:xfrm>
          <a:prstGeom prst="roundRect">
            <a:avLst/>
          </a:prstGeom>
          <a:solidFill>
            <a:srgbClr val="1D1D1F"/>
          </a:solidFill>
          <a:ln w="1397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30951" y="1956816"/>
            <a:ext cx="1682496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0951" y="2395728"/>
            <a:ext cx="1682496" cy="22768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120" b="0">
                <a:solidFill>
                  <a:srgbClr val="F8F8F5"/>
                </a:solidFill>
                <a:latin typeface="Aptos"/>
              </a:defRPr>
            </a:pPr>
            <a:r>
              <a:t>BOOK</a:t>
            </a:r>
            <a:br/>
            <a:br/>
            <a:r>
              <a:t>Submit appointment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9752" y="3063240"/>
            <a:ext cx="347472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2000" b="1">
                <a:solidFill>
                  <a:srgbClr val="D4AF3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1828800"/>
            <a:ext cx="2011680" cy="2971800"/>
          </a:xfrm>
          <a:prstGeom prst="roundRect">
            <a:avLst/>
          </a:prstGeom>
          <a:solidFill>
            <a:srgbClr val="1D1D1F"/>
          </a:solidFill>
          <a:ln w="1397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62671" y="1956816"/>
            <a:ext cx="1682496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62671" y="2395728"/>
            <a:ext cx="1682496" cy="22768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120" b="0">
                <a:solidFill>
                  <a:srgbClr val="F8F8F5"/>
                </a:solidFill>
                <a:latin typeface="Aptos"/>
              </a:defRPr>
            </a:pPr>
            <a:r>
              <a:t>CONFIRM</a:t>
            </a:r>
            <a:br/>
            <a:br/>
            <a:r>
              <a:t>System validates booking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91472" y="3063240"/>
            <a:ext cx="347472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2000" b="1">
                <a:solidFill>
                  <a:srgbClr val="D4AF3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29800" y="1828800"/>
            <a:ext cx="2011680" cy="2971800"/>
          </a:xfrm>
          <a:prstGeom prst="roundRect">
            <a:avLst/>
          </a:prstGeom>
          <a:solidFill>
            <a:srgbClr val="1D1D1F"/>
          </a:solidFill>
          <a:ln w="1397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994392" y="1956816"/>
            <a:ext cx="1682496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94392" y="2395728"/>
            <a:ext cx="1682496" cy="22768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120" b="0">
                <a:solidFill>
                  <a:srgbClr val="F8F8F5"/>
                </a:solidFill>
                <a:latin typeface="Aptos"/>
              </a:defRPr>
            </a:pPr>
            <a:r>
              <a:t>MANAGE</a:t>
            </a:r>
            <a:br/>
            <a:br/>
            <a:r>
              <a:t>View/cancel booking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303520"/>
            <a:ext cx="1069848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 b="0">
                <a:solidFill>
                  <a:srgbClr val="B8B8B4"/>
                </a:solidFill>
                <a:latin typeface="Aptos"/>
              </a:defRPr>
            </a:pPr>
            <a:r>
              <a:t>The customer receives a modern digital experience while the system manages the information behind the scenes.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900" b="1">
                <a:solidFill>
                  <a:srgbClr val="D4AF37"/>
                </a:solidFill>
                <a:latin typeface="Aptos"/>
              </a:defRPr>
            </a:pPr>
            <a:r>
              <a:t>QUALITY EXPECTATIONS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800" b="1">
                <a:solidFill>
                  <a:srgbClr val="D4AF37"/>
                </a:solidFill>
                <a:latin typeface="Aptos"/>
              </a:defRPr>
            </a:pPr>
            <a:r>
              <a:t>Non-Functional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55664"/>
            <a:ext cx="73152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800" b="0">
                <a:solidFill>
                  <a:srgbClr val="5A5A5A"/>
                </a:solidFill>
                <a:latin typeface="Aptos"/>
              </a:defRPr>
            </a:pPr>
            <a:r>
              <a:t>FRAMEWORK FANATICS  •  ITC327W SCHOOL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37376"/>
            <a:ext cx="5029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800" b="1">
                <a:solidFill>
                  <a:srgbClr val="D4AF37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63040"/>
            <a:ext cx="3401568" cy="1572768"/>
          </a:xfrm>
          <a:prstGeom prst="roundRect">
            <a:avLst/>
          </a:prstGeom>
          <a:solidFill>
            <a:srgbClr val="1D1D1F"/>
          </a:solidFill>
          <a:ln w="1397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1" y="1591056"/>
            <a:ext cx="3072384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Aptos"/>
              </a:defRPr>
            </a:pPr>
            <a:r>
              <a:t>USABILITY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029968"/>
            <a:ext cx="3072384" cy="8778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120" b="0">
                <a:solidFill>
                  <a:srgbClr val="F8F8F5"/>
                </a:solidFill>
                <a:latin typeface="Aptos"/>
              </a:defRPr>
            </a:pPr>
            <a:r>
              <a:t>Luxury-style interface that remains easy to use for the target audience.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62272" y="1463040"/>
            <a:ext cx="3401568" cy="1572768"/>
          </a:xfrm>
          <a:prstGeom prst="roundRect">
            <a:avLst/>
          </a:prstGeom>
          <a:solidFill>
            <a:srgbClr val="1D1D1F"/>
          </a:solidFill>
          <a:ln w="1397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26864" y="1591056"/>
            <a:ext cx="3072384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Aptos"/>
              </a:defRPr>
            </a:pPr>
            <a:r>
              <a:t>PERFORMANCE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2029968"/>
            <a:ext cx="3072384" cy="8778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120" b="0">
                <a:solidFill>
                  <a:srgbClr val="F8F8F5"/>
                </a:solidFill>
                <a:latin typeface="Aptos"/>
              </a:defRPr>
            </a:pPr>
            <a:r>
              <a:t>Target page loading time below 3 seconds on broadband.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84463" y="1463040"/>
            <a:ext cx="3401568" cy="1572768"/>
          </a:xfrm>
          <a:prstGeom prst="roundRect">
            <a:avLst/>
          </a:prstGeom>
          <a:solidFill>
            <a:srgbClr val="1D1D1F"/>
          </a:solidFill>
          <a:ln w="1397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49055" y="1591056"/>
            <a:ext cx="3072384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Aptos"/>
              </a:defRPr>
            </a:pPr>
            <a:r>
              <a:t>SECURITY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49055" y="2029968"/>
            <a:ext cx="3072384" cy="8778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120" b="0">
                <a:solidFill>
                  <a:srgbClr val="F8F8F5"/>
                </a:solidFill>
                <a:latin typeface="Aptos"/>
              </a:defRPr>
            </a:pPr>
            <a:r>
              <a:t>Hashed passwords, session expiry and controlled admin access.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520440"/>
            <a:ext cx="3401568" cy="1572768"/>
          </a:xfrm>
          <a:prstGeom prst="roundRect">
            <a:avLst/>
          </a:prstGeom>
          <a:solidFill>
            <a:srgbClr val="1D1D1F"/>
          </a:solidFill>
          <a:ln w="1397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1" y="3648456"/>
            <a:ext cx="3072384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Aptos"/>
              </a:defRPr>
            </a:pPr>
            <a:r>
              <a:t>AVAILABILITY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" y="4087368"/>
            <a:ext cx="3072384" cy="8778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120" b="0">
                <a:solidFill>
                  <a:srgbClr val="F8F8F5"/>
                </a:solidFill>
                <a:latin typeface="Aptos"/>
              </a:defRPr>
            </a:pPr>
            <a:r>
              <a:t>Target 99% system availability.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62272" y="3520440"/>
            <a:ext cx="3401568" cy="1572768"/>
          </a:xfrm>
          <a:prstGeom prst="roundRect">
            <a:avLst/>
          </a:prstGeom>
          <a:solidFill>
            <a:srgbClr val="1D1D1F"/>
          </a:solidFill>
          <a:ln w="1397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26864" y="3648456"/>
            <a:ext cx="3072384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Aptos"/>
              </a:defRPr>
            </a:pPr>
            <a:r>
              <a:t>MAINTAINABILITY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26864" y="4087368"/>
            <a:ext cx="3072384" cy="8778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120" b="0">
                <a:solidFill>
                  <a:srgbClr val="F8F8F5"/>
                </a:solidFill>
                <a:latin typeface="Aptos"/>
              </a:defRPr>
            </a:pPr>
            <a:r>
              <a:t>Clean architecture, understandable code and useful comments.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84463" y="3520440"/>
            <a:ext cx="3401568" cy="1572768"/>
          </a:xfrm>
          <a:prstGeom prst="roundRect">
            <a:avLst/>
          </a:prstGeom>
          <a:solidFill>
            <a:srgbClr val="1D1D1F"/>
          </a:solidFill>
          <a:ln w="1397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49055" y="3648456"/>
            <a:ext cx="3072384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Aptos"/>
              </a:defRPr>
            </a:pPr>
            <a:r>
              <a:t>ERROR HANDLING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49055" y="4087368"/>
            <a:ext cx="3072384" cy="8778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120" b="0">
                <a:solidFill>
                  <a:srgbClr val="F8F8F5"/>
                </a:solidFill>
                <a:latin typeface="Aptos"/>
              </a:defRPr>
            </a:pPr>
            <a:r>
              <a:t>Clear, user-friendly error messages and safe test data.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900" b="1">
                <a:solidFill>
                  <a:srgbClr val="D4AF37"/>
                </a:solidFill>
                <a:latin typeface="Aptos"/>
              </a:defRPr>
            </a:pPr>
            <a:r>
              <a:t>MOSCOW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800" b="1">
                <a:solidFill>
                  <a:srgbClr val="D4AF37"/>
                </a:solidFill>
                <a:latin typeface="Aptos"/>
              </a:defRPr>
            </a:pPr>
            <a:r>
              <a:t>MVP Priorities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55664"/>
            <a:ext cx="73152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800" b="0">
                <a:solidFill>
                  <a:srgbClr val="5A5A5A"/>
                </a:solidFill>
                <a:latin typeface="Aptos"/>
              </a:defRPr>
            </a:pPr>
            <a:r>
              <a:t>FRAMEWORK FANATICS  •  ITC327W SCHOOL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37376"/>
            <a:ext cx="5029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800" b="1">
                <a:solidFill>
                  <a:srgbClr val="D4AF37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6537960" cy="4160520"/>
          </a:xfrm>
          <a:prstGeom prst="roundRect">
            <a:avLst/>
          </a:prstGeom>
          <a:solidFill>
            <a:srgbClr val="1D1D1F"/>
          </a:solidFill>
          <a:ln w="1397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636776"/>
            <a:ext cx="6208776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Aptos"/>
              </a:defRPr>
            </a:pPr>
            <a:r>
              <a:t>MUST HAVE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075688"/>
            <a:ext cx="6208776" cy="34655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120" b="0">
                <a:solidFill>
                  <a:srgbClr val="F8F8F5"/>
                </a:solidFill>
                <a:latin typeface="Aptos"/>
              </a:defRPr>
            </a:pPr>
            <a:r>
              <a:t>Service catalogue • Stylist profiles • Booking • Double-booking prevention • Confirmation email • Admin booking management • Stylist management • Customer cancellation • Contact information • Google Maps • Required pages • Cut &amp; Dye promotion • Operating hours • Cash/card selection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1508760"/>
            <a:ext cx="3886200" cy="1508760"/>
          </a:xfrm>
          <a:prstGeom prst="roundRect">
            <a:avLst/>
          </a:prstGeom>
          <a:solidFill>
            <a:srgbClr val="1D1D1F"/>
          </a:solidFill>
          <a:ln w="1397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08392" y="1636776"/>
            <a:ext cx="3557016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Aptos"/>
              </a:defRPr>
            </a:pPr>
            <a:r>
              <a:t>SHOULD HAVE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08392" y="2075688"/>
            <a:ext cx="3557016" cy="8138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120" b="0">
                <a:solidFill>
                  <a:srgbClr val="F8F8F5"/>
                </a:solidFill>
                <a:latin typeface="Aptos"/>
              </a:defRPr>
            </a:pPr>
            <a:r>
              <a:t>24-hour reminders • Gallery • Social links • Parking information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3429000"/>
            <a:ext cx="3886200" cy="1234440"/>
          </a:xfrm>
          <a:prstGeom prst="roundRect">
            <a:avLst/>
          </a:prstGeom>
          <a:solidFill>
            <a:srgbClr val="1D1D1F"/>
          </a:solidFill>
          <a:ln w="1397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08392" y="3557016"/>
            <a:ext cx="3557016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Aptos"/>
              </a:defRPr>
            </a:pPr>
            <a:r>
              <a:t>COULD HAVE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08392" y="3995928"/>
            <a:ext cx="3557016" cy="5394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120" b="0">
                <a:solidFill>
                  <a:srgbClr val="F8F8F5"/>
                </a:solidFill>
                <a:latin typeface="Aptos"/>
              </a:defRPr>
            </a:pPr>
            <a:r>
              <a:t>Product purchases • Analytics • Reviews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4892040"/>
            <a:ext cx="3886200" cy="777240"/>
          </a:xfrm>
          <a:prstGeom prst="roundRect">
            <a:avLst/>
          </a:prstGeom>
          <a:solidFill>
            <a:srgbClr val="1D1D1F"/>
          </a:solidFill>
          <a:ln w="1397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08392" y="5020055"/>
            <a:ext cx="3557016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Aptos"/>
              </a:defRPr>
            </a:pPr>
            <a:r>
              <a:t>PHASE 1 EXCLUSIONS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08392" y="5458968"/>
            <a:ext cx="3557016" cy="822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120" b="0">
                <a:solidFill>
                  <a:srgbClr val="F8F8F5"/>
                </a:solidFill>
                <a:latin typeface="Aptos"/>
              </a:defRPr>
            </a:pPr>
            <a:r>
              <a:t>WhatsApp API • Online payments • POS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900" b="1">
                <a:solidFill>
                  <a:srgbClr val="D4AF37"/>
                </a:solidFill>
                <a:latin typeface="Aptos"/>
              </a:defRPr>
            </a:pPr>
            <a:r>
              <a:t>CAN THE SCHOOL PROJECT BE DELIVERED?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800" b="1">
                <a:solidFill>
                  <a:srgbClr val="D4AF37"/>
                </a:solidFill>
                <a:latin typeface="Aptos"/>
              </a:defRPr>
            </a:pPr>
            <a:r>
              <a:t>Feasibility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55664"/>
            <a:ext cx="73152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800" b="0">
                <a:solidFill>
                  <a:srgbClr val="5A5A5A"/>
                </a:solidFill>
                <a:latin typeface="Aptos"/>
              </a:defRPr>
            </a:pPr>
            <a:r>
              <a:t>FRAMEWORK FANATICS  •  ITC327W SCHOOL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37376"/>
            <a:ext cx="5029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800" b="1">
                <a:solidFill>
                  <a:srgbClr val="D4AF37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298448"/>
            <a:ext cx="10561320" cy="731520"/>
          </a:xfrm>
          <a:prstGeom prst="roundRect">
            <a:avLst/>
          </a:prstGeom>
          <a:solidFill>
            <a:srgbClr val="1D1D1F"/>
          </a:solidFill>
          <a:ln w="1397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1426464"/>
            <a:ext cx="10232136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Aptos"/>
              </a:defRPr>
            </a:pPr>
            <a:r>
              <a:t>TECHNICAL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9779" y="1755648"/>
            <a:ext cx="10232136" cy="365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120" b="0">
                <a:solidFill>
                  <a:srgbClr val="F8F8F5"/>
                </a:solidFill>
                <a:latin typeface="Aptos"/>
              </a:defRPr>
            </a:pPr>
            <a:r>
              <a:rPr dirty="0"/>
              <a:t>Feasible with changes — the required Flutter, ASP.NET Core and </a:t>
            </a:r>
            <a:r>
              <a:rPr dirty="0" err="1"/>
              <a:t>Supabase</a:t>
            </a:r>
            <a:r>
              <a:rPr dirty="0"/>
              <a:t> technologies can be integrated.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" y="2340864"/>
            <a:ext cx="10561320" cy="731520"/>
          </a:xfrm>
          <a:prstGeom prst="roundRect">
            <a:avLst/>
          </a:prstGeom>
          <a:solidFill>
            <a:srgbClr val="1D1D1F"/>
          </a:solidFill>
          <a:ln w="1397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1832" y="2377440"/>
            <a:ext cx="10232136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Aptos"/>
              </a:defRPr>
            </a:pPr>
            <a:r>
              <a:t>OPERATIONAL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816352"/>
            <a:ext cx="10232136" cy="365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120" b="0">
                <a:solidFill>
                  <a:srgbClr val="F8F8F5"/>
                </a:solidFill>
                <a:latin typeface="Aptos"/>
              </a:defRPr>
            </a:pPr>
            <a:r>
              <a:t>Feasible with changes — staff may require basic training.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246120"/>
            <a:ext cx="10561320" cy="731520"/>
          </a:xfrm>
          <a:prstGeom prst="roundRect">
            <a:avLst/>
          </a:prstGeom>
          <a:solidFill>
            <a:srgbClr val="1D1D1F"/>
          </a:solidFill>
          <a:ln w="13970">
            <a:solidFill>
              <a:srgbClr val="60B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79779" y="3355848"/>
            <a:ext cx="10232136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1">
                <a:solidFill>
                  <a:srgbClr val="60BE78"/>
                </a:solidFill>
                <a:latin typeface="Aptos"/>
              </a:defRPr>
            </a:pPr>
            <a:r>
              <a:t>ECONOMIC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3767328"/>
            <a:ext cx="10232136" cy="365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120" b="0">
                <a:solidFill>
                  <a:srgbClr val="F8F8F5"/>
                </a:solidFill>
                <a:latin typeface="Aptos"/>
              </a:defRPr>
            </a:pPr>
            <a:r>
              <a:rPr dirty="0"/>
              <a:t>Feasible — available tools/free tiers reduce project cost.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8" y="4233672"/>
            <a:ext cx="10561320" cy="731520"/>
          </a:xfrm>
          <a:prstGeom prst="roundRect">
            <a:avLst/>
          </a:prstGeom>
          <a:solidFill>
            <a:srgbClr val="1D1D1F"/>
          </a:solidFill>
          <a:ln w="1397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1832" y="4279392"/>
            <a:ext cx="10232136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Aptos"/>
              </a:defRPr>
            </a:pPr>
            <a:r>
              <a:t>SCHEDULE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4718304"/>
            <a:ext cx="10232136" cy="365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120" b="0">
                <a:solidFill>
                  <a:srgbClr val="F8F8F5"/>
                </a:solidFill>
                <a:latin typeface="Aptos"/>
              </a:defRPr>
            </a:pPr>
            <a:r>
              <a:t>Feasible with changes — Must Have requirements are prioritised.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5157216"/>
            <a:ext cx="10561320" cy="731520"/>
          </a:xfrm>
          <a:prstGeom prst="roundRect">
            <a:avLst/>
          </a:prstGeom>
          <a:solidFill>
            <a:srgbClr val="1D1D1F"/>
          </a:solidFill>
          <a:ln w="1397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7260" y="5262372"/>
            <a:ext cx="10232136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Aptos"/>
              </a:defRPr>
            </a:pPr>
            <a:r>
              <a:t>LEGAL &amp; ETHICAL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" y="5669280"/>
            <a:ext cx="10232136" cy="365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120" b="0">
                <a:solidFill>
                  <a:srgbClr val="F8F8F5"/>
                </a:solidFill>
                <a:latin typeface="Aptos"/>
              </a:defRPr>
            </a:pPr>
            <a:r>
              <a:t>Feasible — use test data, protect credentials and collect only necessary information.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6080760"/>
            <a:ext cx="1056132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500" b="1">
                <a:solidFill>
                  <a:srgbClr val="D4AF37"/>
                </a:solidFill>
                <a:latin typeface="Aptos"/>
              </a:defRPr>
            </a:pPr>
            <a:r>
              <a:t>OVERALL: FEASIBLE WITH CHANGES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900" b="1">
                <a:solidFill>
                  <a:srgbClr val="D4AF37"/>
                </a:solidFill>
                <a:latin typeface="Aptos"/>
              </a:defRPr>
            </a:pPr>
            <a:r>
              <a:t>HOW WE PROTECT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800" b="1">
                <a:solidFill>
                  <a:srgbClr val="D4AF37"/>
                </a:solidFill>
                <a:latin typeface="Aptos"/>
              </a:defRPr>
            </a:pPr>
            <a:r>
              <a:t>Risk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55664"/>
            <a:ext cx="73152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800" b="0">
                <a:solidFill>
                  <a:srgbClr val="5A5A5A"/>
                </a:solidFill>
                <a:latin typeface="Aptos"/>
              </a:defRPr>
            </a:pPr>
            <a:r>
              <a:t>FRAMEWORK FANATICS  •  ITC327W SCHOOL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37376"/>
            <a:ext cx="5029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800" b="1">
                <a:solidFill>
                  <a:srgbClr val="D4AF37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334755"/>
            <a:ext cx="10561320" cy="731520"/>
          </a:xfrm>
          <a:prstGeom prst="roundRect">
            <a:avLst/>
          </a:prstGeom>
          <a:solidFill>
            <a:srgbClr val="1D1D1F"/>
          </a:solidFill>
          <a:ln w="1397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1426464"/>
            <a:ext cx="10232136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Aptos"/>
              </a:defRPr>
            </a:pPr>
            <a:r>
              <a:t>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1865376"/>
            <a:ext cx="10232136" cy="365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120" b="0">
                <a:solidFill>
                  <a:srgbClr val="F8F8F5"/>
                </a:solidFill>
                <a:latin typeface="Aptos"/>
              </a:defRPr>
            </a:pPr>
            <a:r>
              <a:t>Prioritise Must Have features and postpone lower-priority work.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322576"/>
            <a:ext cx="10561320" cy="731520"/>
          </a:xfrm>
          <a:prstGeom prst="roundRect">
            <a:avLst/>
          </a:prstGeom>
          <a:solidFill>
            <a:srgbClr val="1D1D1F"/>
          </a:solidFill>
          <a:ln w="1397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1832" y="2386584"/>
            <a:ext cx="10232136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Aptos"/>
              </a:defRPr>
            </a:pPr>
            <a:r>
              <a:t>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825496"/>
            <a:ext cx="10232136" cy="365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120" b="0">
                <a:solidFill>
                  <a:srgbClr val="F8F8F5"/>
                </a:solidFill>
                <a:latin typeface="Aptos"/>
              </a:defRPr>
            </a:pPr>
            <a:r>
              <a:t>Test Flutter, ASP.NET Core and Supabase integration early.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291840"/>
            <a:ext cx="10561320" cy="731520"/>
          </a:xfrm>
          <a:prstGeom prst="roundRect">
            <a:avLst/>
          </a:prstGeom>
          <a:solidFill>
            <a:srgbClr val="1D1D1F"/>
          </a:solidFill>
          <a:ln w="1397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41832" y="3346704"/>
            <a:ext cx="10232136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Aptos"/>
              </a:defRPr>
            </a:pPr>
            <a:r>
              <a:t>TEAMWORK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3785615"/>
            <a:ext cx="10232136" cy="365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120" b="0">
                <a:solidFill>
                  <a:srgbClr val="F8F8F5"/>
                </a:solidFill>
                <a:latin typeface="Aptos"/>
              </a:defRPr>
            </a:pPr>
            <a:r>
              <a:t>Use weekly meetings, task ownership and progress tracking.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242816"/>
            <a:ext cx="10561320" cy="731520"/>
          </a:xfrm>
          <a:prstGeom prst="roundRect">
            <a:avLst/>
          </a:prstGeom>
          <a:solidFill>
            <a:srgbClr val="1D1D1F"/>
          </a:solidFill>
          <a:ln w="1397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1832" y="4306824"/>
            <a:ext cx="10232136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Aptos"/>
              </a:defRPr>
            </a:pPr>
            <a:r>
              <a:t>TESTING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4745736"/>
            <a:ext cx="10232136" cy="365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120" b="0">
                <a:solidFill>
                  <a:srgbClr val="F8F8F5"/>
                </a:solidFill>
                <a:latin typeface="Aptos"/>
              </a:defRPr>
            </a:pPr>
            <a:r>
              <a:t>Reserve dedicated testing time and integrate components early.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5184648"/>
            <a:ext cx="10561320" cy="731520"/>
          </a:xfrm>
          <a:prstGeom prst="roundRect">
            <a:avLst/>
          </a:prstGeom>
          <a:solidFill>
            <a:srgbClr val="1D1D1F"/>
          </a:solidFill>
          <a:ln w="1397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1832" y="5266944"/>
            <a:ext cx="10232136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Aptos"/>
              </a:defRPr>
            </a:pPr>
            <a:r>
              <a:t>SECURITY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" y="5705856"/>
            <a:ext cx="10232136" cy="365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120" b="0">
                <a:solidFill>
                  <a:srgbClr val="F8F8F5"/>
                </a:solidFill>
                <a:latin typeface="Aptos"/>
              </a:defRPr>
            </a:pPr>
            <a:r>
              <a:t>Use environment variables, .gitignore and code reviews.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900" b="1">
                <a:solidFill>
                  <a:srgbClr val="D4AF37"/>
                </a:solidFill>
                <a:latin typeface="Aptos"/>
              </a:defRPr>
            </a:pPr>
            <a:r>
              <a:t>AUGUST – NOVEMBER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800" b="1">
                <a:solidFill>
                  <a:srgbClr val="D4AF37"/>
                </a:solidFill>
                <a:latin typeface="Aptos"/>
              </a:defRPr>
            </a:pPr>
            <a:r>
              <a:t>Project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55664"/>
            <a:ext cx="73152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800" b="0">
                <a:solidFill>
                  <a:srgbClr val="5A5A5A"/>
                </a:solidFill>
                <a:latin typeface="Aptos"/>
              </a:defRPr>
            </a:pPr>
            <a:r>
              <a:t>FRAMEWORK FANATICS  •  ITC327W SCHOOL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37376"/>
            <a:ext cx="5029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800" b="1">
                <a:solidFill>
                  <a:srgbClr val="D4AF37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737360"/>
            <a:ext cx="2560320" cy="3611880"/>
          </a:xfrm>
          <a:prstGeom prst="roundRect">
            <a:avLst/>
          </a:prstGeom>
          <a:solidFill>
            <a:srgbClr val="1D1D1F"/>
          </a:solidFill>
          <a:ln w="1397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1865376"/>
            <a:ext cx="2231136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Aptos"/>
              </a:defRPr>
            </a:pPr>
            <a:r>
              <a:t>AUGUST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304288"/>
            <a:ext cx="2231136" cy="291693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120" b="0">
                <a:solidFill>
                  <a:srgbClr val="F8F8F5"/>
                </a:solidFill>
                <a:latin typeface="Aptos"/>
              </a:defRPr>
            </a:pPr>
            <a:r>
              <a:t>Planning</a:t>
            </a:r>
            <a:br/>
            <a:br/>
            <a:r>
              <a:t>Stakeholder interview, requirements, Initial SRS, feasibility and risks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737360"/>
            <a:ext cx="2560320" cy="3611880"/>
          </a:xfrm>
          <a:prstGeom prst="roundRect">
            <a:avLst/>
          </a:prstGeom>
          <a:solidFill>
            <a:srgbClr val="1D1D1F"/>
          </a:solidFill>
          <a:ln w="1397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39312" y="1865376"/>
            <a:ext cx="2231136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Aptos"/>
              </a:defRPr>
            </a:pPr>
            <a:r>
              <a:t>SEPTEMBER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2304288"/>
            <a:ext cx="2231136" cy="291693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120" b="0">
                <a:solidFill>
                  <a:srgbClr val="F8F8F5"/>
                </a:solidFill>
                <a:latin typeface="Aptos"/>
              </a:defRPr>
            </a:pPr>
            <a:r>
              <a:t>Design &amp; Build</a:t>
            </a:r>
            <a:br/>
            <a:br/>
            <a:r>
              <a:t>Architecture, Supabase schema, Flutter and ASP.NET Core development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737360"/>
            <a:ext cx="2560320" cy="3611880"/>
          </a:xfrm>
          <a:prstGeom prst="roundRect">
            <a:avLst/>
          </a:prstGeom>
          <a:solidFill>
            <a:srgbClr val="1D1D1F"/>
          </a:solidFill>
          <a:ln w="1397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19672" y="1865376"/>
            <a:ext cx="2231136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Aptos"/>
              </a:defRPr>
            </a:pPr>
            <a:r>
              <a:t>OCTOBER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2304288"/>
            <a:ext cx="2231136" cy="291693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120" b="0">
                <a:solidFill>
                  <a:srgbClr val="F8F8F5"/>
                </a:solidFill>
                <a:latin typeface="Aptos"/>
              </a:defRPr>
            </a:pPr>
            <a:r>
              <a:rPr dirty="0"/>
              <a:t>Integration &amp; Testing</a:t>
            </a:r>
            <a:br>
              <a:rPr dirty="0"/>
            </a:br>
            <a:br>
              <a:rPr dirty="0"/>
            </a:br>
            <a:r>
              <a:rPr dirty="0"/>
              <a:t>Booking, cancellation, conflict prevention and stakeholder validation</a:t>
            </a:r>
            <a:br>
              <a:rPr lang="en-ZA" dirty="0"/>
            </a:br>
            <a:br>
              <a:rPr lang="en-ZA" dirty="0"/>
            </a:br>
            <a:r>
              <a:rPr lang="en-ZA" dirty="0"/>
              <a:t>Finalisation</a:t>
            </a:r>
            <a:br>
              <a:rPr lang="en-ZA" dirty="0"/>
            </a:br>
            <a:br>
              <a:rPr lang="en-ZA" dirty="0"/>
            </a:br>
            <a:r>
              <a:rPr lang="en-ZA" dirty="0"/>
              <a:t>Refinement, final testing, documentation and handover</a:t>
            </a:r>
          </a:p>
          <a:p>
            <a:pPr algn="l">
              <a:defRPr sz="1120" b="0">
                <a:solidFill>
                  <a:srgbClr val="F8F8F5"/>
                </a:solidFill>
                <a:latin typeface="Aptos"/>
              </a:defRPr>
            </a:pPr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9400032" y="1865376"/>
            <a:ext cx="2231136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Aptos"/>
              </a:defRPr>
            </a:pPr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9400032" y="2231136"/>
            <a:ext cx="2231136" cy="291693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120" b="0">
                <a:solidFill>
                  <a:srgbClr val="F8F8F5"/>
                </a:solidFill>
                <a:latin typeface="Aptos"/>
              </a:defRPr>
            </a:pPr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731520" y="5623560"/>
            <a:ext cx="106070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 b="1">
                <a:solidFill>
                  <a:srgbClr val="D4AF37"/>
                </a:solidFill>
                <a:latin typeface="Aptos"/>
              </a:defRPr>
            </a:pPr>
            <a:r>
              <a:t>The schedule demonstrates both academic project management and practical software delivery.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900" b="1">
                <a:solidFill>
                  <a:srgbClr val="D4AF37"/>
                </a:solidFill>
                <a:latin typeface="Aptos"/>
              </a:defRPr>
            </a:pPr>
            <a:r>
              <a:t>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800" b="1">
                <a:solidFill>
                  <a:srgbClr val="D4AF37"/>
                </a:solidFill>
                <a:latin typeface="Aptos"/>
              </a:defRPr>
            </a:pPr>
            <a:r>
              <a:t>Current Project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55664"/>
            <a:ext cx="73152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800" b="0">
                <a:solidFill>
                  <a:srgbClr val="5A5A5A"/>
                </a:solidFill>
                <a:latin typeface="Aptos"/>
              </a:defRPr>
            </a:pPr>
            <a:r>
              <a:t>FRAMEWORK FANATICS  •  ITC327W SCHOOL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37376"/>
            <a:ext cx="5029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800" b="1">
                <a:solidFill>
                  <a:srgbClr val="D4AF37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383280" cy="4069080"/>
          </a:xfrm>
          <a:prstGeom prst="roundRect">
            <a:avLst/>
          </a:prstGeom>
          <a:solidFill>
            <a:srgbClr val="1D1D1F"/>
          </a:solidFill>
          <a:ln w="13970">
            <a:solidFill>
              <a:srgbClr val="60B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682495"/>
            <a:ext cx="3054096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1">
                <a:solidFill>
                  <a:srgbClr val="60BE78"/>
                </a:solidFill>
                <a:latin typeface="Aptos"/>
              </a:defRPr>
            </a:pPr>
            <a:r>
              <a:t>COMPLETED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121408"/>
            <a:ext cx="3054096" cy="337413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120" b="0">
                <a:solidFill>
                  <a:srgbClr val="F8F8F5"/>
                </a:solidFill>
                <a:latin typeface="Aptos"/>
              </a:defRPr>
            </a:pPr>
            <a:r>
              <a:t>Stakeholder interview</a:t>
            </a:r>
            <a:br/>
            <a:br/>
            <a:r>
              <a:t>Initial SRS</a:t>
            </a:r>
            <a:br/>
            <a:br/>
            <a:r>
              <a:t>Feasibility study</a:t>
            </a:r>
            <a:br/>
            <a:br/>
            <a:r>
              <a:t>Risk register</a:t>
            </a:r>
            <a:br/>
            <a:br/>
            <a:r>
              <a:t>Requirements prioritisation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54480"/>
            <a:ext cx="3383280" cy="4069080"/>
          </a:xfrm>
          <a:prstGeom prst="roundRect">
            <a:avLst/>
          </a:prstGeom>
          <a:solidFill>
            <a:srgbClr val="1D1D1F"/>
          </a:solidFill>
          <a:ln w="1397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53712" y="1682495"/>
            <a:ext cx="3054096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Aptos"/>
              </a:defRPr>
            </a:pPr>
            <a:r>
              <a:t>IN PROGRESS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121408"/>
            <a:ext cx="3054096" cy="337413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120" b="0">
                <a:solidFill>
                  <a:srgbClr val="F8F8F5"/>
                </a:solidFill>
                <a:latin typeface="Aptos"/>
              </a:defRPr>
            </a:pPr>
            <a:r>
              <a:t>System architecture</a:t>
            </a:r>
            <a:br/>
            <a:br/>
            <a:r>
              <a:t>Database schema</a:t>
            </a:r>
            <a:br/>
            <a:br/>
            <a:r>
              <a:t>UI/UX design</a:t>
            </a:r>
            <a:br/>
            <a:br/>
            <a:r>
              <a:t>Technology integration planning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554480"/>
            <a:ext cx="3383280" cy="4069080"/>
          </a:xfrm>
          <a:prstGeom prst="roundRect">
            <a:avLst/>
          </a:prstGeom>
          <a:solidFill>
            <a:srgbClr val="1D1D1F"/>
          </a:solidFill>
          <a:ln w="1397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11312" y="1682495"/>
            <a:ext cx="3054096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Aptos"/>
              </a:defRPr>
            </a:pPr>
            <a:r>
              <a:t>NEXT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2121408"/>
            <a:ext cx="3054096" cy="337413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120" b="0">
                <a:solidFill>
                  <a:srgbClr val="F8F8F5"/>
                </a:solidFill>
                <a:latin typeface="Aptos"/>
              </a:defRPr>
            </a:pPr>
            <a:r>
              <a:t>Flutter development</a:t>
            </a:r>
            <a:br/>
            <a:br/>
            <a:r>
              <a:t>ASP.NET Core development</a:t>
            </a:r>
            <a:br/>
            <a:br/>
            <a:r>
              <a:t>Supabase integration</a:t>
            </a:r>
            <a:br/>
            <a:br/>
            <a:r>
              <a:t>Testing and validation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900" b="1">
                <a:solidFill>
                  <a:srgbClr val="D4AF37"/>
                </a:solidFill>
                <a:latin typeface="Aptos"/>
              </a:defRPr>
            </a:pPr>
            <a:r>
              <a:t>ACADEMIC + PRACTICAL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800" b="1">
                <a:solidFill>
                  <a:srgbClr val="D4AF37"/>
                </a:solidFill>
                <a:latin typeface="Aptos"/>
              </a:defRPr>
            </a:pPr>
            <a:r>
              <a:t>Why the Project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55664"/>
            <a:ext cx="73152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800" b="0">
                <a:solidFill>
                  <a:srgbClr val="5A5A5A"/>
                </a:solidFill>
                <a:latin typeface="Aptos"/>
              </a:defRPr>
            </a:pPr>
            <a:r>
              <a:t>FRAMEWORK FANATICS  •  ITC327W SCHOOL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37376"/>
            <a:ext cx="5029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800" b="1">
                <a:solidFill>
                  <a:srgbClr val="D4AF37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63040"/>
            <a:ext cx="3401568" cy="1572768"/>
          </a:xfrm>
          <a:prstGeom prst="roundRect">
            <a:avLst/>
          </a:prstGeom>
          <a:solidFill>
            <a:srgbClr val="1D1D1F"/>
          </a:solidFill>
          <a:ln w="1397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1" y="1591056"/>
            <a:ext cx="3072384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Aptos"/>
              </a:defRPr>
            </a:pPr>
            <a:r>
              <a:t>ACADEMIC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029968"/>
            <a:ext cx="3072384" cy="8778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120" b="0">
                <a:solidFill>
                  <a:srgbClr val="F8F8F5"/>
                </a:solidFill>
                <a:latin typeface="Aptos"/>
              </a:defRPr>
            </a:pPr>
            <a:r>
              <a:t>Demonstrates requirements analysis, architecture, development, databases, testing and documentation.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62272" y="1463040"/>
            <a:ext cx="3401568" cy="1572768"/>
          </a:xfrm>
          <a:prstGeom prst="roundRect">
            <a:avLst/>
          </a:prstGeom>
          <a:solidFill>
            <a:srgbClr val="1D1D1F"/>
          </a:solidFill>
          <a:ln w="1397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26864" y="1591056"/>
            <a:ext cx="3072384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Aptos"/>
              </a:defRPr>
            </a:pPr>
            <a:r>
              <a:t>TECHNOLOGY 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2029968"/>
            <a:ext cx="3072384" cy="8778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120" b="0">
                <a:solidFill>
                  <a:srgbClr val="F8F8F5"/>
                </a:solidFill>
                <a:latin typeface="Aptos"/>
              </a:defRPr>
            </a:pPr>
            <a:r>
              <a:t>Shows practical use of the prescribed Flutter, ASP.NET Core and Supabase technologies.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84463" y="1463040"/>
            <a:ext cx="3401568" cy="1572768"/>
          </a:xfrm>
          <a:prstGeom prst="roundRect">
            <a:avLst/>
          </a:prstGeom>
          <a:solidFill>
            <a:srgbClr val="1D1D1F"/>
          </a:solidFill>
          <a:ln w="1397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49055" y="1591056"/>
            <a:ext cx="3072384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Aptos"/>
              </a:defRPr>
            </a:pPr>
            <a:r>
              <a:t>REAL BUSINESS PROBLEM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49055" y="2029968"/>
            <a:ext cx="3072384" cy="8778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120" b="0">
                <a:solidFill>
                  <a:srgbClr val="F8F8F5"/>
                </a:solidFill>
                <a:latin typeface="Aptos"/>
              </a:defRPr>
            </a:pPr>
            <a:r>
              <a:t>The system responds to actual salon booking and management challenges.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520440"/>
            <a:ext cx="3401568" cy="1572768"/>
          </a:xfrm>
          <a:prstGeom prst="roundRect">
            <a:avLst/>
          </a:prstGeom>
          <a:solidFill>
            <a:srgbClr val="1D1D1F"/>
          </a:solidFill>
          <a:ln w="1397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1" y="3648456"/>
            <a:ext cx="3072384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Aptos"/>
              </a:defRPr>
            </a:pPr>
            <a:r>
              <a:t>PORTFOLIO VALUE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" y="4087368"/>
            <a:ext cx="3072384" cy="8778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120" b="0">
                <a:solidFill>
                  <a:srgbClr val="F8F8F5"/>
                </a:solidFill>
                <a:latin typeface="Aptos"/>
              </a:defRPr>
            </a:pPr>
            <a:r>
              <a:t>Produces a working system that demonstrates the team’s technical and project skills.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62272" y="3520440"/>
            <a:ext cx="3401568" cy="1572768"/>
          </a:xfrm>
          <a:prstGeom prst="roundRect">
            <a:avLst/>
          </a:prstGeom>
          <a:solidFill>
            <a:srgbClr val="1D1D1F"/>
          </a:solidFill>
          <a:ln w="1397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26864" y="3648456"/>
            <a:ext cx="3072384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Aptos"/>
              </a:defRPr>
            </a:pPr>
            <a:r>
              <a:t>FUTURE DEVELOPMENT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26864" y="4087368"/>
            <a:ext cx="3072384" cy="8778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120" b="0">
                <a:solidFill>
                  <a:srgbClr val="F8F8F5"/>
                </a:solidFill>
                <a:latin typeface="Aptos"/>
              </a:defRPr>
            </a:pPr>
            <a:r>
              <a:t>Can later be extended with payments, analytics, reviews and other features.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84463" y="3520440"/>
            <a:ext cx="3401568" cy="1572768"/>
          </a:xfrm>
          <a:prstGeom prst="roundRect">
            <a:avLst/>
          </a:prstGeom>
          <a:solidFill>
            <a:srgbClr val="1D1D1F"/>
          </a:solidFill>
          <a:ln w="1397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49055" y="3648456"/>
            <a:ext cx="3072384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Aptos"/>
              </a:defRPr>
            </a:pPr>
            <a:r>
              <a:t>REUSABLE IDEA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49055" y="4087368"/>
            <a:ext cx="3072384" cy="8778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120" b="0">
                <a:solidFill>
                  <a:srgbClr val="F8F8F5"/>
                </a:solidFill>
                <a:latin typeface="Aptos"/>
              </a:defRPr>
            </a:pPr>
            <a:r>
              <a:t>The booking concept can be adapted to other appointment-based businesses.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900" b="1">
                <a:solidFill>
                  <a:srgbClr val="D4AF37"/>
                </a:solidFill>
                <a:latin typeface="Aptos"/>
              </a:defRPr>
            </a:pPr>
            <a:r>
              <a:t>WHAT WILL BE SUBMITTED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800" b="1">
                <a:solidFill>
                  <a:srgbClr val="D4AF37"/>
                </a:solidFill>
                <a:latin typeface="Aptos"/>
              </a:defRPr>
            </a:pPr>
            <a:r>
              <a:t>Project Deliverables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55664"/>
            <a:ext cx="73152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800" b="0">
                <a:solidFill>
                  <a:srgbClr val="5A5A5A"/>
                </a:solidFill>
                <a:latin typeface="Aptos"/>
              </a:defRPr>
            </a:pPr>
            <a:r>
              <a:t>FRAMEWORK FANATICS  •  ITC327W SCHOOL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37376"/>
            <a:ext cx="5029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800" b="1">
                <a:solidFill>
                  <a:srgbClr val="D4AF37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63040"/>
            <a:ext cx="3401568" cy="1572768"/>
          </a:xfrm>
          <a:prstGeom prst="roundRect">
            <a:avLst/>
          </a:prstGeom>
          <a:solidFill>
            <a:srgbClr val="1D1D1F"/>
          </a:solidFill>
          <a:ln w="1397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1" y="1591056"/>
            <a:ext cx="3072384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Aptos"/>
              </a:defRPr>
            </a:pPr>
            <a:r>
              <a:t>SRS DOCUMENT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029968"/>
            <a:ext cx="3072384" cy="8778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120" b="0">
                <a:solidFill>
                  <a:srgbClr val="F8F8F5"/>
                </a:solidFill>
                <a:latin typeface="Aptos"/>
              </a:defRPr>
            </a:pPr>
            <a:r>
              <a:t>Requirements and system specification.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62272" y="1463040"/>
            <a:ext cx="3401568" cy="1572768"/>
          </a:xfrm>
          <a:prstGeom prst="roundRect">
            <a:avLst/>
          </a:prstGeom>
          <a:solidFill>
            <a:srgbClr val="1D1D1F"/>
          </a:solidFill>
          <a:ln w="1397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26864" y="1591056"/>
            <a:ext cx="3072384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Aptos"/>
              </a:defRPr>
            </a:pPr>
            <a:r>
              <a:t>WORKING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2029968"/>
            <a:ext cx="3072384" cy="8778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120" b="0">
                <a:solidFill>
                  <a:srgbClr val="F8F8F5"/>
                </a:solidFill>
                <a:latin typeface="Aptos"/>
              </a:defRPr>
            </a:pPr>
            <a:r>
              <a:t>End-to-end booking, payment preference and cancellation workflow.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84463" y="1463040"/>
            <a:ext cx="3401568" cy="1572768"/>
          </a:xfrm>
          <a:prstGeom prst="roundRect">
            <a:avLst/>
          </a:prstGeom>
          <a:solidFill>
            <a:srgbClr val="1D1D1F"/>
          </a:solidFill>
          <a:ln w="1397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49055" y="1591056"/>
            <a:ext cx="3072384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Aptos"/>
              </a:defRPr>
            </a:pPr>
            <a:r>
              <a:t>SOURCE 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49055" y="2029968"/>
            <a:ext cx="3072384" cy="8778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120" b="0">
                <a:solidFill>
                  <a:srgbClr val="F8F8F5"/>
                </a:solidFill>
                <a:latin typeface="Aptos"/>
              </a:defRPr>
            </a:pPr>
            <a:r>
              <a:t>GitHub repository containing project development.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520440"/>
            <a:ext cx="3401568" cy="1572768"/>
          </a:xfrm>
          <a:prstGeom prst="roundRect">
            <a:avLst/>
          </a:prstGeom>
          <a:solidFill>
            <a:srgbClr val="1D1D1F"/>
          </a:solidFill>
          <a:ln w="1397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1" y="3648456"/>
            <a:ext cx="3072384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Aptos"/>
              </a:defRPr>
            </a:pPr>
            <a:r>
              <a:t>SUPABASE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" y="4087368"/>
            <a:ext cx="3072384" cy="8778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120" b="0">
                <a:solidFill>
                  <a:srgbClr val="F8F8F5"/>
                </a:solidFill>
                <a:latin typeface="Aptos"/>
              </a:defRPr>
            </a:pPr>
            <a:r>
              <a:t>Configured database tables and supporting evidence.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62272" y="3520440"/>
            <a:ext cx="3401568" cy="1572768"/>
          </a:xfrm>
          <a:prstGeom prst="roundRect">
            <a:avLst/>
          </a:prstGeom>
          <a:solidFill>
            <a:srgbClr val="1D1D1F"/>
          </a:solidFill>
          <a:ln w="1397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26864" y="3648456"/>
            <a:ext cx="3072384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Aptos"/>
              </a:defRPr>
            </a:pPr>
            <a:r>
              <a:t>ADMIN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26864" y="4087368"/>
            <a:ext cx="3072384" cy="8778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120" b="0">
                <a:solidFill>
                  <a:srgbClr val="F8F8F5"/>
                </a:solidFill>
                <a:latin typeface="Aptos"/>
              </a:defRPr>
            </a:pPr>
            <a:r>
              <a:t>CRUD operations and management functionality.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84463" y="3520440"/>
            <a:ext cx="3401568" cy="1572768"/>
          </a:xfrm>
          <a:prstGeom prst="roundRect">
            <a:avLst/>
          </a:prstGeom>
          <a:solidFill>
            <a:srgbClr val="1D1D1F"/>
          </a:solidFill>
          <a:ln w="1397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49055" y="3648456"/>
            <a:ext cx="3072384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Aptos"/>
              </a:defRPr>
            </a:pPr>
            <a:r>
              <a:t>PROJECT DOCUMENTATION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49055" y="4087368"/>
            <a:ext cx="3072384" cy="8778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120" b="0">
                <a:solidFill>
                  <a:srgbClr val="F8F8F5"/>
                </a:solidFill>
                <a:latin typeface="Aptos"/>
              </a:defRPr>
            </a:pPr>
            <a:r>
              <a:t>Progress tracker, MS Project plan and final supporting documentation.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900" b="1">
                <a:solidFill>
                  <a:srgbClr val="D4AF37"/>
                </a:solidFill>
                <a:latin typeface="Aptos"/>
              </a:defRPr>
            </a:pPr>
            <a:r>
              <a:t>PROJECT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800" b="1">
                <a:solidFill>
                  <a:srgbClr val="D4AF37"/>
                </a:solidFill>
                <a:latin typeface="Aptos"/>
              </a:defRPr>
            </a:pPr>
            <a:r>
              <a:t>Framework Fanatics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55664"/>
            <a:ext cx="73152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800" b="0">
                <a:solidFill>
                  <a:srgbClr val="5A5A5A"/>
                </a:solidFill>
                <a:latin typeface="Aptos"/>
              </a:defRPr>
            </a:pPr>
            <a:r>
              <a:t>FRAMEWORK FANATICS  •  ITC327W SCHOOL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37376"/>
            <a:ext cx="5029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800" b="1">
                <a:solidFill>
                  <a:srgbClr val="D4AF37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737360"/>
            <a:ext cx="2057400" cy="3474720"/>
          </a:xfrm>
          <a:prstGeom prst="roundRect">
            <a:avLst/>
          </a:prstGeom>
          <a:solidFill>
            <a:srgbClr val="1D1D1F"/>
          </a:solidFill>
          <a:ln w="1397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1865376"/>
            <a:ext cx="1728216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Aptos"/>
              </a:defRPr>
            </a:pPr>
            <a:r>
              <a:t>Goitseone Kgwele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304288"/>
            <a:ext cx="1728216" cy="27797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120" b="0">
                <a:solidFill>
                  <a:srgbClr val="F8F8F5"/>
                </a:solidFill>
                <a:latin typeface="Aptos"/>
              </a:defRPr>
            </a:pPr>
            <a:r>
              <a:rPr dirty="0"/>
              <a:t>Facilitator</a:t>
            </a:r>
            <a:endParaRPr lang="en-ZA" dirty="0"/>
          </a:p>
          <a:p>
            <a:pPr algn="l">
              <a:defRPr sz="1120" b="0">
                <a:solidFill>
                  <a:srgbClr val="F8F8F5"/>
                </a:solidFill>
                <a:latin typeface="Aptos"/>
              </a:defRPr>
            </a:pPr>
            <a:endParaRPr lang="en-ZA" dirty="0"/>
          </a:p>
          <a:p>
            <a:pPr algn="l">
              <a:defRPr sz="1120" b="0">
                <a:solidFill>
                  <a:srgbClr val="F8F8F5"/>
                </a:solidFill>
                <a:latin typeface="Aptos"/>
              </a:defRPr>
            </a:pP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2898648" y="1737360"/>
            <a:ext cx="2057400" cy="3474720"/>
          </a:xfrm>
          <a:prstGeom prst="roundRect">
            <a:avLst/>
          </a:prstGeom>
          <a:solidFill>
            <a:srgbClr val="1D1D1F"/>
          </a:solidFill>
          <a:ln w="1397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63240" y="1865376"/>
            <a:ext cx="1728216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Aptos"/>
              </a:defRPr>
            </a:pPr>
            <a:r>
              <a:t>Thabang Zitha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2555" y="2304288"/>
            <a:ext cx="1728216" cy="27797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120" b="0">
                <a:solidFill>
                  <a:srgbClr val="F8F8F5"/>
                </a:solidFill>
                <a:latin typeface="Aptos"/>
              </a:defRPr>
            </a:pPr>
            <a:r>
              <a:t>Requirements Analyst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02936" y="1737360"/>
            <a:ext cx="2057400" cy="3474720"/>
          </a:xfrm>
          <a:prstGeom prst="roundRect">
            <a:avLst/>
          </a:prstGeom>
          <a:solidFill>
            <a:srgbClr val="1D1D1F"/>
          </a:solidFill>
          <a:ln w="1397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67528" y="1865376"/>
            <a:ext cx="1728216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Aptos"/>
              </a:defRPr>
            </a:pPr>
            <a:r>
              <a:t>Nyakallo Pali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67528" y="2304288"/>
            <a:ext cx="1728216" cy="27797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120" b="0">
                <a:solidFill>
                  <a:srgbClr val="F8F8F5"/>
                </a:solidFill>
                <a:latin typeface="Aptos"/>
              </a:defRPr>
            </a:pPr>
            <a:r>
              <a:t>Backend Lead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07224" y="1737360"/>
            <a:ext cx="2057400" cy="3474720"/>
          </a:xfrm>
          <a:prstGeom prst="roundRect">
            <a:avLst/>
          </a:prstGeom>
          <a:solidFill>
            <a:srgbClr val="1D1D1F"/>
          </a:solidFill>
          <a:ln w="1397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71816" y="1865376"/>
            <a:ext cx="1728216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Aptos"/>
              </a:defRPr>
            </a:pPr>
            <a:r>
              <a:t>Bennet Linda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71816" y="2331720"/>
            <a:ext cx="1728216" cy="27797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120" b="0">
                <a:solidFill>
                  <a:srgbClr val="F8F8F5"/>
                </a:solidFill>
                <a:latin typeface="Aptos"/>
              </a:defRPr>
            </a:pPr>
            <a:r>
              <a:t>Frontend Lead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11512" y="1737360"/>
            <a:ext cx="2057400" cy="3474720"/>
          </a:xfrm>
          <a:prstGeom prst="roundRect">
            <a:avLst/>
          </a:prstGeom>
          <a:solidFill>
            <a:srgbClr val="1D1D1F"/>
          </a:solidFill>
          <a:ln w="1397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976104" y="1865376"/>
            <a:ext cx="1728216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Aptos"/>
              </a:defRPr>
            </a:pPr>
            <a:r>
              <a:t>Yamkela Mazamani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76104" y="2304288"/>
            <a:ext cx="1728216" cy="27797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120" b="0">
                <a:solidFill>
                  <a:srgbClr val="F8F8F5"/>
                </a:solidFill>
                <a:latin typeface="Aptos"/>
              </a:defRPr>
            </a:pPr>
            <a:r>
              <a:t>Documentation Lead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577840"/>
            <a:ext cx="106070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300" b="0">
                <a:solidFill>
                  <a:srgbClr val="B8B8B4"/>
                </a:solidFill>
                <a:latin typeface="Aptos"/>
              </a:defRPr>
            </a:pPr>
            <a:r>
              <a:t>Working together to meet the school requirements while delivering a practical solution for Cutting Edge Salon.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6455664"/>
            <a:ext cx="73152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800" b="0">
                <a:solidFill>
                  <a:srgbClr val="5A5A5A"/>
                </a:solidFill>
                <a:latin typeface="Aptos"/>
              </a:defRPr>
            </a:pPr>
            <a:r>
              <a:t>FRAMEWORK FANATICS  •  ITC327W SCHOOL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37376"/>
            <a:ext cx="5029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800" b="1">
                <a:solidFill>
                  <a:srgbClr val="D4AF37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83564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3100" b="1">
                <a:solidFill>
                  <a:srgbClr val="D4AF37"/>
                </a:solidFill>
                <a:latin typeface="Aptos"/>
              </a:defRPr>
            </a:pPr>
            <a:r>
              <a:t>FROM A SCHOOL PROJECT TO A REAL-WORLD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1069848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2000" b="1">
                <a:solidFill>
                  <a:srgbClr val="F8F8F5"/>
                </a:solidFill>
                <a:latin typeface="Aptos"/>
              </a:defRPr>
            </a:pPr>
            <a:r>
              <a:t>Cutting Edge Salon Management &amp; Booking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71800"/>
            <a:ext cx="1069848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300" b="1">
                <a:solidFill>
                  <a:srgbClr val="B8B8B4"/>
                </a:solidFill>
                <a:latin typeface="Aptos"/>
              </a:defRPr>
            </a:pPr>
            <a:r>
              <a:t>Required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429000"/>
            <a:ext cx="1083564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500" b="1">
                <a:solidFill>
                  <a:srgbClr val="D4AF37"/>
                </a:solidFill>
                <a:latin typeface="Aptos"/>
              </a:defRPr>
            </a:pPr>
            <a:r>
              <a:t>Flutter — Frontend + Backend   •   ASP.NET Core — Frontend + Backend   •   Supabase — Data 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43400"/>
            <a:ext cx="1069848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 b="0">
                <a:solidFill>
                  <a:srgbClr val="F8F8F5"/>
                </a:solidFill>
                <a:latin typeface="Aptos"/>
              </a:defRPr>
            </a:pPr>
            <a:r>
              <a:t>Framework Fanatics  •  ITC327W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349240"/>
            <a:ext cx="1069848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2100" b="1">
                <a:solidFill>
                  <a:srgbClr val="D4AF37"/>
                </a:solidFill>
                <a:latin typeface="Aptos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1559</Words>
  <Application>Microsoft Office PowerPoint</Application>
  <PresentationFormat>Widescreen</PresentationFormat>
  <Paragraphs>247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user</dc:creator>
  <cp:keywords/>
  <dc:description>generated using python-pptx</dc:description>
  <cp:lastModifiedBy>user</cp:lastModifiedBy>
  <cp:revision>3</cp:revision>
  <dcterms:created xsi:type="dcterms:W3CDTF">2013-01-27T09:14:16Z</dcterms:created>
  <dcterms:modified xsi:type="dcterms:W3CDTF">2026-08-31T18:02:54Z</dcterms:modified>
  <cp:category/>
</cp:coreProperties>
</file>