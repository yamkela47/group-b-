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f516360-a79c-39b5-5091-639d0dfaeda5}">
          <p14:sldIdLst>
            <p14:sldId id="256"/>
            <p14:sldId id="257"/>
          </p14:sldIdLst>
        </p14:section>
        <p14:section name="The System" id="{599e2e89-e947-b6ca-76dd-b922af9a1e11}">
          <p14:sldIdLst>
            <p14:sldId id="258"/>
            <p14:sldId id="259"/>
            <p14:sldId id="260"/>
            <p14:sldId id="261"/>
          </p14:sldIdLst>
        </p14:section>
        <p14:section name="Review" id="{049a02c4-ac09-4a9a-4998-fc2c4f692db6}">
          <p14:sldIdLst>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Panel. We are Framework Fanatics. Today we are presenting the final integrated prototype for Cutting Edge Salon. This presentation will cover our system architecture, a live demonstration of the Flutter and ASP.NET applications working together via Supabase, and an overview of our project journey and known limitations. (Goitse)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Cutting Edge Salon struggled with manual booking errors. Our solution digitizes the entire workflow. We built a premium Flutter app for customers and stylists, and a robust ASP.NET web portal for the manager. Both platforms are powered by a single, secure Supabase database. (Thabang)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applications connect to a single shared Supabase project. We implemented strict Row Level Security. Customers can only see their own bookings, stylists can only see their assigned schedules, and managers have full administrative access. Our database implements the full 24-table ERD schema you approved in Phase 2. (Nyakallo)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Flutter app was built with a strong focus on UX and the salon’s luxury brand. A key technical feature is our BookingGate. Before a customer can book, the app queries Supabase to ensure they don’t already have an active booking, and checks the stylist’s availability. The stylist side allows them to manage their own blocked dates seamlessly. (Bennet)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Manager Portal, we used ASP.NET Core MVC. Security was a priority; we implemented anti-forgery tokens and secure sessions. The dashboard pulls live metrics directly from Supabase. We also built features for the manager to approve leave requests and reply to customer enquiries, which are instantly pushed to the Flutter app. (Yamkela)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will switch to a live demonstration. We will show you exactly how Flutter and ASP.NET communicate through Supabase. [Proceed to Live Demo]. First, Bennet will create a booking in Flutter. Then, I will log into ASP.NET to approve it. Finally, Nyakallo will show the updated status on the mobile app. (Goitse)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management was a significant part of this phase. We faced challenges with keeping everyone accountable. To solve this, we established weekly check-ins and tracked everything transparently. Technically, aligning the field names and status values between the two applications was tricky, but we standardized our data contracts and resolved all integration bugs. (Thabang)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completely honest about the system’s limitations. We did not implement automated email reminders; the manager handles these manually. Also, the apps do not auto-refresh in real-time; a user must refresh to see cross-app updates. Finally, payment is cash/card on arrival—we did not integrate a payment gateway as per the project scope. (Yamkela)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Framework Fanatics has delivered a robust, integrated prototype that meets the core requirements of the stakeholder. The system solves the manual mismanagement problem and gives the manager total oversight. The code is fully documented on GitHub. Thank you for your time, and we are ready to answer your questions. (Goitse)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D0D0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400800" cy="2194560"/>
          </a:xfrm>
          <a:prstGeom prst="rect">
            <a:avLst/>
          </a:prstGeom>
          <a:noFill/>
          <a:ln/>
        </p:spPr>
        <p:txBody>
          <a:bodyPr wrap="square" rtlCol="0"/>
          <a:lstStyle>
            <a:lvl1pPr algn="l" indent="0" marL="0">
              <a:buNone/>
              <a:defRPr lang="en-US" sz="4400" b="1" dirty="0">
                <a:solidFill>
                  <a:schemeClr val="accent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D0D0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31520"/>
          </a:xfrm>
          <a:prstGeom prst="rect">
            <a:avLst/>
          </a:prstGeom>
          <a:noFill/>
          <a:ln/>
        </p:spPr>
        <p:txBody>
          <a:bodyPr wrap="square" rtlCol="0"/>
          <a:lstStyle>
            <a:lvl1pPr algn="l" indent="0" marL="0">
              <a:buNone/>
              <a:defRPr lang="en-US" sz="3600" b="1" dirty="0">
                <a:solidFill>
                  <a:schemeClr val="accent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6" Type="http://schemas.openxmlformats.org/officeDocument/2006/relationships/hyperlink" Target="https://github.com/Yamkela47/Group-B-.git" TargetMode="Externa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alon icon circle"/>
          <p:cNvSpPr/>
          <p:nvPr/>
        </p:nvSpPr>
        <p:spPr>
          <a:xfrm>
            <a:off x="640080" y="640080"/>
            <a:ext cx="822960" cy="822960"/>
          </a:xfrm>
          <a:prstGeom prst="ellipse">
            <a:avLst/>
          </a:prstGeom>
          <a:solidFill>
            <a:schemeClr val="accent1"/>
          </a:solidFill>
          <a:ln/>
        </p:spPr>
      </p:sp>
      <p:pic>
        <p:nvPicPr>
          <p:cNvPr id="3" name="Salon icon" descr="Salon icon">    </p:cNvPr>
          <p:cNvPicPr>
            <a:picLocks noChangeAspect="1"/>
          </p:cNvPicPr>
          <p:nvPr/>
        </p:nvPicPr>
        <p:blipFill>
          <a:blip r:embed="rId1"/>
          <a:stretch>
            <a:fillRect/>
          </a:stretch>
        </p:blipFill>
        <p:spPr>
          <a:xfrm>
            <a:off x="845820" y="845820"/>
            <a:ext cx="411480" cy="411480"/>
          </a:xfrm>
          <a:prstGeom prst="rect">
            <a:avLst/>
          </a:prstGeom>
        </p:spPr>
      </p:pic>
      <p:sp>
        <p:nvSpPr>
          <p:cNvPr id="4" name="Text 0"/>
          <p:cNvSpPr/>
          <p:nvPr>
            <p:ph idx="100" type="title" hasCustomPrompt="1"/>
          </p:nvPr>
        </p:nvSpPr>
        <p:spPr>
          <a:xfrm>
            <a:off x="640080" y="1737360"/>
            <a:ext cx="6400800" cy="2194560"/>
          </a:xfrm>
          <a:prstGeom prst="rect">
            <a:avLst/>
          </a:prstGeom>
          <a:noFill/>
          <a:ln/>
        </p:spPr>
        <p:txBody>
          <a:bodyPr wrap="square" lIns="0" tIns="0" rIns="0" bIns="0" rtlCol="0" anchor="t"/>
          <a:lstStyle/>
          <a:p>
            <a:pPr algn="l" indent="0" marL="0">
              <a:buNone/>
            </a:pPr>
            <a:r>
              <a:rPr lang="en-US" sz="4400" b="1" dirty="0">
                <a:solidFill>
                  <a:schemeClr val="accent1"/>
                </a:solidFill>
              </a:rPr>
              <a:t>Cutting Edge Salon Management &amp; Booking System</a:t>
            </a:r>
            <a:endParaRPr lang="en-US" sz="4400" dirty="0"/>
          </a:p>
        </p:txBody>
      </p:sp>
      <p:sp>
        <p:nvSpPr>
          <p:cNvPr id="5" name="Text 2"/>
          <p:cNvSpPr txBox="1"/>
          <p:nvPr/>
        </p:nvSpPr>
        <p:spPr>
          <a:xfrm>
            <a:off x="640080" y="4114800"/>
            <a:ext cx="6400800" cy="731520"/>
          </a:xfrm>
          <a:prstGeom prst="rect">
            <a:avLst/>
          </a:prstGeom>
          <a:noFill/>
          <a:ln/>
        </p:spPr>
        <p:txBody>
          <a:bodyPr wrap="square" lIns="0" tIns="0" rIns="0" bIns="0" rtlCol="0" anchor="t"/>
          <a:lstStyle/>
          <a:p>
            <a:pPr indent="0" marL="0">
              <a:buNone/>
            </a:pPr>
            <a:r>
              <a:rPr lang="en-US" sz="2000" dirty="0">
                <a:solidFill>
                  <a:schemeClr val="bg2"/>
                </a:solidFill>
              </a:rPr>
              <a:t>ITC327W Phase 3: Final Prototype &amp; Live Demonstration</a:t>
            </a:r>
            <a:endParaRPr lang="en-US" sz="2000" dirty="0"/>
          </a:p>
        </p:txBody>
      </p:sp>
      <p:sp>
        <p:nvSpPr>
          <p:cNvPr id="6" name="Text 3"/>
          <p:cNvSpPr txBox="1"/>
          <p:nvPr/>
        </p:nvSpPr>
        <p:spPr>
          <a:xfrm>
            <a:off x="640080" y="4937760"/>
            <a:ext cx="6400800" cy="365760"/>
          </a:xfrm>
          <a:prstGeom prst="rect">
            <a:avLst/>
          </a:prstGeom>
          <a:noFill/>
          <a:ln/>
        </p:spPr>
        <p:txBody>
          <a:bodyPr wrap="square" lIns="0" tIns="0" rIns="0" bIns="0" rtlCol="0" anchor="t"/>
          <a:lstStyle/>
          <a:p>
            <a:pPr indent="0" marL="0">
              <a:buNone/>
            </a:pPr>
            <a:r>
              <a:rPr lang="en-US" sz="1800" b="1" dirty="0">
                <a:solidFill>
                  <a:schemeClr val="accent4"/>
                </a:solidFill>
              </a:rPr>
              <a:t>Group: Framework Fanatics</a:t>
            </a:r>
            <a:endParaRPr lang="en-US" sz="1800" dirty="0"/>
          </a:p>
        </p:txBody>
      </p:sp>
      <p:sp>
        <p:nvSpPr>
          <p:cNvPr id="7" name="Team card"/>
          <p:cNvSpPr/>
          <p:nvPr/>
        </p:nvSpPr>
        <p:spPr>
          <a:xfrm>
            <a:off x="7589520" y="822960"/>
            <a:ext cx="4023360" cy="5212080"/>
          </a:xfrm>
          <a:prstGeom prst="roundRect">
            <a:avLst>
              <a:gd name="adj" fmla="val 2727"/>
            </a:avLst>
          </a:prstGeom>
          <a:solidFill>
            <a:schemeClr val="tx2"/>
          </a:solidFill>
          <a:ln/>
        </p:spPr>
      </p:sp>
      <p:sp>
        <p:nvSpPr>
          <p:cNvPr id="8" name="Text 5"/>
          <p:cNvSpPr txBox="1"/>
          <p:nvPr/>
        </p:nvSpPr>
        <p:spPr>
          <a:xfrm>
            <a:off x="7863840" y="1005840"/>
            <a:ext cx="3474720" cy="320040"/>
          </a:xfrm>
          <a:prstGeom prst="rect">
            <a:avLst/>
          </a:prstGeom>
          <a:noFill/>
          <a:ln/>
        </p:spPr>
        <p:txBody>
          <a:bodyPr wrap="square" lIns="0" tIns="0" rIns="0" bIns="0" rtlCol="0" anchor="t"/>
          <a:lstStyle/>
          <a:p>
            <a:pPr indent="0" marL="0">
              <a:buNone/>
            </a:pPr>
            <a:r>
              <a:rPr lang="en-US" sz="1400" b="1" spc="300" kern="0" dirty="0">
                <a:solidFill>
                  <a:schemeClr val="accent1"/>
                </a:solidFill>
              </a:rPr>
              <a:t>TEAM MEMBERS</a:t>
            </a:r>
            <a:endParaRPr lang="en-US" sz="1400" dirty="0"/>
          </a:p>
        </p:txBody>
      </p:sp>
      <p:sp>
        <p:nvSpPr>
          <p:cNvPr id="9" name="Text 6"/>
          <p:cNvSpPr txBox="1"/>
          <p:nvPr/>
        </p:nvSpPr>
        <p:spPr>
          <a:xfrm>
            <a:off x="7863840" y="1508760"/>
            <a:ext cx="3566160" cy="731520"/>
          </a:xfrm>
          <a:prstGeom prst="rect">
            <a:avLst/>
          </a:prstGeom>
          <a:noFill/>
          <a:ln/>
        </p:spPr>
        <p:txBody>
          <a:bodyPr wrap="square" lIns="0" tIns="0" rIns="0" bIns="0" rtlCol="0" anchor="t"/>
          <a:lstStyle/>
          <a:p>
            <a:pPr indent="0" marL="0">
              <a:buNone/>
            </a:pPr>
            <a:r>
              <a:rPr lang="en-US" sz="1600" b="1" dirty="0">
                <a:solidFill>
                  <a:schemeClr val="bg1"/>
                </a:solidFill>
              </a:rPr>
              <a:t>Goitse Kgwele  </a:t>
            </a:r>
            <a:pPr indent="0" marL="0">
              <a:buNone/>
            </a:pPr>
            <a:r>
              <a:rPr lang="en-US" sz="1400" dirty="0">
                <a:solidFill>
                  <a:schemeClr val="bg2"/>
                </a:solidFill>
              </a:rPr>
              <a:t>221050663</a:t>
            </a:r>
            <a:endParaRPr lang="en-US" sz="1600" dirty="0"/>
          </a:p>
          <a:p>
            <a:pPr indent="0" marL="0">
              <a:buNone/>
            </a:pPr>
            <a:r>
              <a:rPr lang="en-US" sz="1400" dirty="0">
                <a:solidFill>
                  <a:schemeClr val="accent4"/>
                </a:solidFill>
              </a:rPr>
              <a:t>Facilitator / ASP.NET Dev</a:t>
            </a:r>
            <a:endParaRPr lang="en-US" sz="1600" dirty="0"/>
          </a:p>
        </p:txBody>
      </p:sp>
      <p:sp>
        <p:nvSpPr>
          <p:cNvPr id="10" name="Text 7"/>
          <p:cNvSpPr txBox="1"/>
          <p:nvPr/>
        </p:nvSpPr>
        <p:spPr>
          <a:xfrm>
            <a:off x="7863840" y="2395728"/>
            <a:ext cx="3566160" cy="731520"/>
          </a:xfrm>
          <a:prstGeom prst="rect">
            <a:avLst/>
          </a:prstGeom>
          <a:noFill/>
          <a:ln/>
        </p:spPr>
        <p:txBody>
          <a:bodyPr wrap="square" lIns="0" tIns="0" rIns="0" bIns="0" rtlCol="0" anchor="t"/>
          <a:lstStyle/>
          <a:p>
            <a:pPr indent="0" marL="0">
              <a:buNone/>
            </a:pPr>
            <a:r>
              <a:rPr lang="en-US" sz="1600" b="1" dirty="0">
                <a:solidFill>
                  <a:schemeClr val="bg1"/>
                </a:solidFill>
              </a:rPr>
              <a:t>Thabang Zitha  </a:t>
            </a:r>
            <a:pPr indent="0" marL="0">
              <a:buNone/>
            </a:pPr>
            <a:r>
              <a:rPr lang="en-US" sz="1400" dirty="0">
                <a:solidFill>
                  <a:schemeClr val="bg2"/>
                </a:solidFill>
              </a:rPr>
              <a:t>223007074</a:t>
            </a:r>
            <a:endParaRPr lang="en-US" sz="1600" dirty="0"/>
          </a:p>
          <a:p>
            <a:pPr indent="0" marL="0">
              <a:buNone/>
            </a:pPr>
            <a:r>
              <a:rPr lang="en-US" sz="1400" dirty="0">
                <a:solidFill>
                  <a:schemeClr val="accent4"/>
                </a:solidFill>
              </a:rPr>
              <a:t>Requirements Analyst / ASP.NET Dev</a:t>
            </a:r>
            <a:endParaRPr lang="en-US" sz="1600" dirty="0"/>
          </a:p>
        </p:txBody>
      </p:sp>
      <p:sp>
        <p:nvSpPr>
          <p:cNvPr id="11" name="Text 8"/>
          <p:cNvSpPr txBox="1"/>
          <p:nvPr/>
        </p:nvSpPr>
        <p:spPr>
          <a:xfrm>
            <a:off x="7863840" y="3282696"/>
            <a:ext cx="3566160" cy="731520"/>
          </a:xfrm>
          <a:prstGeom prst="rect">
            <a:avLst/>
          </a:prstGeom>
          <a:noFill/>
          <a:ln/>
        </p:spPr>
        <p:txBody>
          <a:bodyPr wrap="square" lIns="0" tIns="0" rIns="0" bIns="0" rtlCol="0" anchor="t"/>
          <a:lstStyle/>
          <a:p>
            <a:pPr indent="0" marL="0">
              <a:buNone/>
            </a:pPr>
            <a:r>
              <a:rPr lang="en-US" sz="1600" b="1" dirty="0">
                <a:solidFill>
                  <a:schemeClr val="bg1"/>
                </a:solidFill>
              </a:rPr>
              <a:t>Yamkela Mazamani  </a:t>
            </a:r>
            <a:pPr indent="0" marL="0">
              <a:buNone/>
            </a:pPr>
            <a:r>
              <a:rPr lang="en-US" sz="1400" dirty="0">
                <a:solidFill>
                  <a:schemeClr val="bg2"/>
                </a:solidFill>
              </a:rPr>
              <a:t>224007421</a:t>
            </a:r>
            <a:endParaRPr lang="en-US" sz="1600" dirty="0"/>
          </a:p>
          <a:p>
            <a:pPr indent="0" marL="0">
              <a:buNone/>
            </a:pPr>
            <a:r>
              <a:rPr lang="en-US" sz="1400" dirty="0">
                <a:solidFill>
                  <a:schemeClr val="accent4"/>
                </a:solidFill>
              </a:rPr>
              <a:t>Documentation Lead / ASP.NET Dev</a:t>
            </a:r>
            <a:endParaRPr lang="en-US" sz="1600" dirty="0"/>
          </a:p>
        </p:txBody>
      </p:sp>
      <p:sp>
        <p:nvSpPr>
          <p:cNvPr id="12" name="Text 9"/>
          <p:cNvSpPr txBox="1"/>
          <p:nvPr/>
        </p:nvSpPr>
        <p:spPr>
          <a:xfrm>
            <a:off x="7863840" y="4169664"/>
            <a:ext cx="3566160" cy="731520"/>
          </a:xfrm>
          <a:prstGeom prst="rect">
            <a:avLst/>
          </a:prstGeom>
          <a:noFill/>
          <a:ln/>
        </p:spPr>
        <p:txBody>
          <a:bodyPr wrap="square" lIns="0" tIns="0" rIns="0" bIns="0" rtlCol="0" anchor="t"/>
          <a:lstStyle/>
          <a:p>
            <a:pPr indent="0" marL="0">
              <a:buNone/>
            </a:pPr>
            <a:r>
              <a:rPr lang="en-US" sz="1600" b="1" dirty="0">
                <a:solidFill>
                  <a:schemeClr val="bg1"/>
                </a:solidFill>
              </a:rPr>
              <a:t>Nyakallo Pali  </a:t>
            </a:r>
            <a:pPr indent="0" marL="0">
              <a:buNone/>
            </a:pPr>
            <a:r>
              <a:rPr lang="en-US" sz="1400" dirty="0">
                <a:solidFill>
                  <a:schemeClr val="bg2"/>
                </a:solidFill>
              </a:rPr>
              <a:t>223060226</a:t>
            </a:r>
            <a:endParaRPr lang="en-US" sz="1600" dirty="0"/>
          </a:p>
          <a:p>
            <a:pPr indent="0" marL="0">
              <a:buNone/>
            </a:pPr>
            <a:r>
              <a:rPr lang="en-US" sz="1400" dirty="0">
                <a:solidFill>
                  <a:schemeClr val="accent4"/>
                </a:solidFill>
              </a:rPr>
              <a:t>Backend Lead / Flutter Dev</a:t>
            </a:r>
            <a:endParaRPr lang="en-US" sz="1600" dirty="0"/>
          </a:p>
        </p:txBody>
      </p:sp>
      <p:sp>
        <p:nvSpPr>
          <p:cNvPr id="13" name="Text 10"/>
          <p:cNvSpPr txBox="1"/>
          <p:nvPr/>
        </p:nvSpPr>
        <p:spPr>
          <a:xfrm>
            <a:off x="7863840" y="5056632"/>
            <a:ext cx="3566160" cy="731520"/>
          </a:xfrm>
          <a:prstGeom prst="rect">
            <a:avLst/>
          </a:prstGeom>
          <a:noFill/>
          <a:ln/>
        </p:spPr>
        <p:txBody>
          <a:bodyPr wrap="square" lIns="0" tIns="0" rIns="0" bIns="0" rtlCol="0" anchor="t"/>
          <a:lstStyle/>
          <a:p>
            <a:pPr indent="0" marL="0">
              <a:buNone/>
            </a:pPr>
            <a:r>
              <a:rPr lang="en-US" sz="1600" b="1" dirty="0">
                <a:solidFill>
                  <a:schemeClr val="bg1"/>
                </a:solidFill>
              </a:rPr>
              <a:t>Bennet Linda  </a:t>
            </a:r>
            <a:pPr indent="0" marL="0">
              <a:buNone/>
            </a:pPr>
            <a:r>
              <a:rPr lang="en-US" sz="1400" dirty="0">
                <a:solidFill>
                  <a:schemeClr val="bg2"/>
                </a:solidFill>
              </a:rPr>
              <a:t>224004294</a:t>
            </a:r>
            <a:endParaRPr lang="en-US" sz="1600" dirty="0"/>
          </a:p>
          <a:p>
            <a:pPr indent="0" marL="0">
              <a:buNone/>
            </a:pPr>
            <a:r>
              <a:rPr lang="en-US" sz="1400" dirty="0">
                <a:solidFill>
                  <a:schemeClr val="accent4"/>
                </a:solidFill>
              </a:rPr>
              <a:t>Frontend Lead / Flutter Dev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31520"/>
          </a:xfrm>
          <a:prstGeom prst="rect">
            <a:avLst/>
          </a:prstGeom>
          <a:noFill/>
          <a:ln/>
        </p:spPr>
        <p:txBody>
          <a:bodyPr wrap="square" lIns="0" tIns="0" rIns="0" bIns="0" rtlCol="0" anchor="ctr"/>
          <a:lstStyle/>
          <a:p>
            <a:pPr algn="l" indent="0" marL="0">
              <a:buNone/>
            </a:pPr>
            <a:r>
              <a:rPr lang="en-US" sz="3600" b="1" dirty="0">
                <a:solidFill>
                  <a:schemeClr val="accent1"/>
                </a:solidFill>
              </a:rPr>
              <a:t>The Problem &amp; Our Solution</a:t>
            </a:r>
            <a:endParaRPr lang="en-US" sz="3600" dirty="0"/>
          </a:p>
        </p:txBody>
      </p:sp>
      <p:sp>
        <p:nvSpPr>
          <p:cNvPr id="3" name="Problem card"/>
          <p:cNvSpPr/>
          <p:nvPr/>
        </p:nvSpPr>
        <p:spPr>
          <a:xfrm>
            <a:off x="640080" y="1463040"/>
            <a:ext cx="4754880" cy="4663440"/>
          </a:xfrm>
          <a:prstGeom prst="roundRect">
            <a:avLst>
              <a:gd name="adj" fmla="val 2353"/>
            </a:avLst>
          </a:prstGeom>
          <a:solidFill>
            <a:schemeClr val="tx2"/>
          </a:solidFill>
          <a:ln/>
        </p:spPr>
      </p:sp>
      <p:sp>
        <p:nvSpPr>
          <p:cNvPr id="4" name="Problem icon circle"/>
          <p:cNvSpPr/>
          <p:nvPr/>
        </p:nvSpPr>
        <p:spPr>
          <a:xfrm>
            <a:off x="868680" y="1691640"/>
            <a:ext cx="594360" cy="594360"/>
          </a:xfrm>
          <a:prstGeom prst="ellipse">
            <a:avLst/>
          </a:prstGeom>
          <a:solidFill>
            <a:schemeClr val="accent1"/>
          </a:solidFill>
          <a:ln/>
        </p:spPr>
      </p:sp>
      <p:pic>
        <p:nvPicPr>
          <p:cNvPr id="5" name="Problem icon" descr="Problem icon">    </p:cNvPr>
          <p:cNvPicPr>
            <a:picLocks noChangeAspect="1"/>
          </p:cNvPicPr>
          <p:nvPr/>
        </p:nvPicPr>
        <p:blipFill>
          <a:blip r:embed="rId1"/>
          <a:stretch>
            <a:fillRect/>
          </a:stretch>
        </p:blipFill>
        <p:spPr>
          <a:xfrm>
            <a:off x="1017270" y="1840230"/>
            <a:ext cx="297180" cy="297180"/>
          </a:xfrm>
          <a:prstGeom prst="rect">
            <a:avLst/>
          </a:prstGeom>
        </p:spPr>
      </p:pic>
      <p:sp>
        <p:nvSpPr>
          <p:cNvPr id="6" name="Text 3"/>
          <p:cNvSpPr txBox="1"/>
          <p:nvPr/>
        </p:nvSpPr>
        <p:spPr>
          <a:xfrm>
            <a:off x="1645920" y="1737360"/>
            <a:ext cx="3566160" cy="5029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The Stakeholder Problem</a:t>
            </a:r>
            <a:endParaRPr lang="en-US" sz="2200" dirty="0"/>
          </a:p>
        </p:txBody>
      </p:sp>
      <p:sp>
        <p:nvSpPr>
          <p:cNvPr id="7" name="Text 4"/>
          <p:cNvSpPr txBox="1"/>
          <p:nvPr/>
        </p:nvSpPr>
        <p:spPr>
          <a:xfrm>
            <a:off x="868680" y="2651760"/>
            <a:ext cx="4297680" cy="31089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Manual paper-based diaries and phone calls.</a:t>
            </a:r>
            <a:endParaRPr lang="en-US" sz="1800" dirty="0"/>
          </a:p>
          <a:p>
            <a:pPr marL="342900" indent="-342900">
              <a:spcAft>
                <a:spcPts val="800"/>
              </a:spcAft>
              <a:buSzPct val="100000"/>
              <a:buChar char="•"/>
            </a:pPr>
            <a:r>
              <a:rPr lang="en-US" sz="1800" dirty="0">
                <a:solidFill>
                  <a:schemeClr val="bg1"/>
                </a:solidFill>
              </a:rPr>
              <a:t>Frequent double-bookings and lost customer details.</a:t>
            </a:r>
            <a:endParaRPr lang="en-US" sz="1800" dirty="0"/>
          </a:p>
          <a:p>
            <a:pPr marL="342900" indent="-342900">
              <a:spcAft>
                <a:spcPts val="800"/>
              </a:spcAft>
              <a:buSzPct val="100000"/>
              <a:buChar char="•"/>
            </a:pPr>
            <a:r>
              <a:rPr lang="en-US" sz="1800" dirty="0">
                <a:solidFill>
                  <a:schemeClr val="bg1"/>
                </a:solidFill>
              </a:rPr>
              <a:t>Inefficient management of stylist availability.</a:t>
            </a:r>
            <a:endParaRPr lang="en-US" sz="1800" dirty="0"/>
          </a:p>
        </p:txBody>
      </p:sp>
      <p:sp>
        <p:nvSpPr>
          <p:cNvPr id="8" name="Text 5"/>
          <p:cNvSpPr txBox="1"/>
          <p:nvPr/>
        </p:nvSpPr>
        <p:spPr>
          <a:xfrm>
            <a:off x="5852160" y="1463040"/>
            <a:ext cx="576072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Our Integrated Solution</a:t>
            </a:r>
            <a:endParaRPr lang="en-US" sz="2200" dirty="0"/>
          </a:p>
        </p:txBody>
      </p:sp>
      <p:sp>
        <p:nvSpPr>
          <p:cNvPr id="9" name="Solution card 1"/>
          <p:cNvSpPr/>
          <p:nvPr/>
        </p:nvSpPr>
        <p:spPr>
          <a:xfrm>
            <a:off x="5852160" y="2057400"/>
            <a:ext cx="5760720" cy="1188720"/>
          </a:xfrm>
          <a:prstGeom prst="roundRect">
            <a:avLst>
              <a:gd name="adj" fmla="val 9231"/>
            </a:avLst>
          </a:prstGeom>
          <a:solidFill>
            <a:schemeClr val="tx2"/>
          </a:solidFill>
          <a:ln/>
        </p:spPr>
      </p:sp>
      <p:sp>
        <p:nvSpPr>
          <p:cNvPr id="10" name="Flutter App icon circle"/>
          <p:cNvSpPr/>
          <p:nvPr/>
        </p:nvSpPr>
        <p:spPr>
          <a:xfrm>
            <a:off x="6080760" y="2331720"/>
            <a:ext cx="640080" cy="640080"/>
          </a:xfrm>
          <a:prstGeom prst="ellipse">
            <a:avLst/>
          </a:prstGeom>
          <a:solidFill>
            <a:schemeClr val="accent1"/>
          </a:solidFill>
          <a:ln/>
        </p:spPr>
      </p:sp>
      <p:pic>
        <p:nvPicPr>
          <p:cNvPr id="11" name="Flutter App icon" descr="Flutter App icon">    </p:cNvPr>
          <p:cNvPicPr>
            <a:picLocks noChangeAspect="1"/>
          </p:cNvPicPr>
          <p:nvPr/>
        </p:nvPicPr>
        <p:blipFill>
          <a:blip r:embed="rId2"/>
          <a:stretch>
            <a:fillRect/>
          </a:stretch>
        </p:blipFill>
        <p:spPr>
          <a:xfrm>
            <a:off x="6240780" y="2491740"/>
            <a:ext cx="320040" cy="320040"/>
          </a:xfrm>
          <a:prstGeom prst="rect">
            <a:avLst/>
          </a:prstGeom>
        </p:spPr>
      </p:pic>
      <p:sp>
        <p:nvSpPr>
          <p:cNvPr id="12" name="Text 8"/>
          <p:cNvSpPr txBox="1"/>
          <p:nvPr/>
        </p:nvSpPr>
        <p:spPr>
          <a:xfrm>
            <a:off x="6949440" y="2240280"/>
            <a:ext cx="4480560" cy="822960"/>
          </a:xfrm>
          <a:prstGeom prst="rect">
            <a:avLst/>
          </a:prstGeom>
          <a:noFill/>
          <a:ln/>
        </p:spPr>
        <p:txBody>
          <a:bodyPr wrap="square" lIns="0" tIns="0" rIns="0" bIns="0" rtlCol="0" anchor="ctr"/>
          <a:lstStyle/>
          <a:p>
            <a:pPr indent="0" marL="0">
              <a:buNone/>
            </a:pPr>
            <a:r>
              <a:rPr lang="en-US" sz="1800" b="1" dirty="0">
                <a:solidFill>
                  <a:schemeClr val="bg1"/>
                </a:solidFill>
              </a:rPr>
              <a:t>Flutter App</a:t>
            </a:r>
            <a:endParaRPr lang="en-US" sz="1800" dirty="0"/>
          </a:p>
          <a:p>
            <a:pPr indent="0" marL="0">
              <a:buNone/>
            </a:pPr>
            <a:r>
              <a:rPr lang="en-US" sz="1400" dirty="0">
                <a:solidFill>
                  <a:schemeClr val="bg2"/>
                </a:solidFill>
              </a:rPr>
              <a:t>A luxury digital experience for Customers and Stylists.</a:t>
            </a:r>
            <a:endParaRPr lang="en-US" sz="1800" dirty="0"/>
          </a:p>
        </p:txBody>
      </p:sp>
      <p:sp>
        <p:nvSpPr>
          <p:cNvPr id="13" name="Solution card 2"/>
          <p:cNvSpPr/>
          <p:nvPr/>
        </p:nvSpPr>
        <p:spPr>
          <a:xfrm>
            <a:off x="5852160" y="3429000"/>
            <a:ext cx="5760720" cy="1188720"/>
          </a:xfrm>
          <a:prstGeom prst="roundRect">
            <a:avLst>
              <a:gd name="adj" fmla="val 9231"/>
            </a:avLst>
          </a:prstGeom>
          <a:solidFill>
            <a:schemeClr val="tx2"/>
          </a:solidFill>
          <a:ln/>
        </p:spPr>
      </p:sp>
      <p:sp>
        <p:nvSpPr>
          <p:cNvPr id="14" name="ASP.NET Portal icon circle"/>
          <p:cNvSpPr/>
          <p:nvPr/>
        </p:nvSpPr>
        <p:spPr>
          <a:xfrm>
            <a:off x="6080760" y="3703320"/>
            <a:ext cx="640080" cy="640080"/>
          </a:xfrm>
          <a:prstGeom prst="ellipse">
            <a:avLst/>
          </a:prstGeom>
          <a:solidFill>
            <a:schemeClr val="accent1"/>
          </a:solidFill>
          <a:ln/>
        </p:spPr>
      </p:sp>
      <p:pic>
        <p:nvPicPr>
          <p:cNvPr id="15" name="ASP.NET Portal icon" descr="ASP.NET Portal icon">    </p:cNvPr>
          <p:cNvPicPr>
            <a:picLocks noChangeAspect="1"/>
          </p:cNvPicPr>
          <p:nvPr/>
        </p:nvPicPr>
        <p:blipFill>
          <a:blip r:embed="rId3"/>
          <a:stretch>
            <a:fillRect/>
          </a:stretch>
        </p:blipFill>
        <p:spPr>
          <a:xfrm>
            <a:off x="6240780" y="3863340"/>
            <a:ext cx="320040" cy="320040"/>
          </a:xfrm>
          <a:prstGeom prst="rect">
            <a:avLst/>
          </a:prstGeom>
        </p:spPr>
      </p:pic>
      <p:sp>
        <p:nvSpPr>
          <p:cNvPr id="16" name="Text 11"/>
          <p:cNvSpPr txBox="1"/>
          <p:nvPr/>
        </p:nvSpPr>
        <p:spPr>
          <a:xfrm>
            <a:off x="6949440" y="3611880"/>
            <a:ext cx="4480560" cy="822960"/>
          </a:xfrm>
          <a:prstGeom prst="rect">
            <a:avLst/>
          </a:prstGeom>
          <a:noFill/>
          <a:ln/>
        </p:spPr>
        <p:txBody>
          <a:bodyPr wrap="square" lIns="0" tIns="0" rIns="0" bIns="0" rtlCol="0" anchor="ctr"/>
          <a:lstStyle/>
          <a:p>
            <a:pPr indent="0" marL="0">
              <a:buNone/>
            </a:pPr>
            <a:r>
              <a:rPr lang="en-US" sz="1800" b="1" dirty="0">
                <a:solidFill>
                  <a:schemeClr val="bg1"/>
                </a:solidFill>
              </a:rPr>
              <a:t>ASP.NET Portal</a:t>
            </a:r>
            <a:endParaRPr lang="en-US" sz="1800" dirty="0"/>
          </a:p>
          <a:p>
            <a:pPr indent="0" marL="0">
              <a:buNone/>
            </a:pPr>
            <a:r>
              <a:rPr lang="en-US" sz="1400" dirty="0">
                <a:solidFill>
                  <a:schemeClr val="bg2"/>
                </a:solidFill>
              </a:rPr>
              <a:t>A secure administrative dashboard for the Manager.</a:t>
            </a:r>
            <a:endParaRPr lang="en-US" sz="1800" dirty="0"/>
          </a:p>
        </p:txBody>
      </p:sp>
      <p:sp>
        <p:nvSpPr>
          <p:cNvPr id="17" name="Solution card 3"/>
          <p:cNvSpPr/>
          <p:nvPr/>
        </p:nvSpPr>
        <p:spPr>
          <a:xfrm>
            <a:off x="5852160" y="4800600"/>
            <a:ext cx="5760720" cy="1188720"/>
          </a:xfrm>
          <a:prstGeom prst="roundRect">
            <a:avLst>
              <a:gd name="adj" fmla="val 9231"/>
            </a:avLst>
          </a:prstGeom>
          <a:solidFill>
            <a:schemeClr val="tx2"/>
          </a:solidFill>
          <a:ln/>
        </p:spPr>
      </p:sp>
      <p:sp>
        <p:nvSpPr>
          <p:cNvPr id="18" name="Shared Supabase Backend icon circle"/>
          <p:cNvSpPr/>
          <p:nvPr/>
        </p:nvSpPr>
        <p:spPr>
          <a:xfrm>
            <a:off x="6080760" y="5074920"/>
            <a:ext cx="640080" cy="640080"/>
          </a:xfrm>
          <a:prstGeom prst="ellipse">
            <a:avLst/>
          </a:prstGeom>
          <a:solidFill>
            <a:schemeClr val="accent1"/>
          </a:solidFill>
          <a:ln/>
        </p:spPr>
      </p:sp>
      <p:pic>
        <p:nvPicPr>
          <p:cNvPr id="19" name="Shared Supabase Backend icon" descr="Shared Supabase Backend icon">    </p:cNvPr>
          <p:cNvPicPr>
            <a:picLocks noChangeAspect="1"/>
          </p:cNvPicPr>
          <p:nvPr/>
        </p:nvPicPr>
        <p:blipFill>
          <a:blip r:embed="rId4"/>
          <a:stretch>
            <a:fillRect/>
          </a:stretch>
        </p:blipFill>
        <p:spPr>
          <a:xfrm>
            <a:off x="6240780" y="5234940"/>
            <a:ext cx="320040" cy="320040"/>
          </a:xfrm>
          <a:prstGeom prst="rect">
            <a:avLst/>
          </a:prstGeom>
        </p:spPr>
      </p:pic>
      <p:sp>
        <p:nvSpPr>
          <p:cNvPr id="20" name="Text 14"/>
          <p:cNvSpPr txBox="1"/>
          <p:nvPr/>
        </p:nvSpPr>
        <p:spPr>
          <a:xfrm>
            <a:off x="6949440" y="4983480"/>
            <a:ext cx="4480560" cy="822960"/>
          </a:xfrm>
          <a:prstGeom prst="rect">
            <a:avLst/>
          </a:prstGeom>
          <a:noFill/>
          <a:ln/>
        </p:spPr>
        <p:txBody>
          <a:bodyPr wrap="square" lIns="0" tIns="0" rIns="0" bIns="0" rtlCol="0" anchor="ctr"/>
          <a:lstStyle/>
          <a:p>
            <a:pPr indent="0" marL="0">
              <a:buNone/>
            </a:pPr>
            <a:r>
              <a:rPr lang="en-US" sz="1800" b="1" dirty="0">
                <a:solidFill>
                  <a:schemeClr val="bg1"/>
                </a:solidFill>
              </a:rPr>
              <a:t>Shared Supabase Backend</a:t>
            </a:r>
            <a:endParaRPr lang="en-US" sz="1800" dirty="0"/>
          </a:p>
          <a:p>
            <a:pPr indent="0" marL="0">
              <a:buNone/>
            </a:pPr>
            <a:r>
              <a:rPr lang="en-US" sz="1400" dirty="0">
                <a:solidFill>
                  <a:schemeClr val="bg2"/>
                </a:solidFill>
              </a:rPr>
              <a:t>Centralised data keeping all platforms consistent.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31520"/>
          </a:xfrm>
          <a:prstGeom prst="rect">
            <a:avLst/>
          </a:prstGeom>
          <a:noFill/>
          <a:ln/>
        </p:spPr>
        <p:txBody>
          <a:bodyPr wrap="square" lIns="0" tIns="0" rIns="0" bIns="0" rtlCol="0" anchor="ctr"/>
          <a:lstStyle/>
          <a:p>
            <a:pPr algn="l" indent="0" marL="0">
              <a:buNone/>
            </a:pPr>
            <a:r>
              <a:rPr lang="en-US" sz="3600" b="1" dirty="0">
                <a:solidFill>
                  <a:schemeClr val="accent1"/>
                </a:solidFill>
              </a:rPr>
              <a:t>System Architecture &amp; Shared Backend</a:t>
            </a:r>
            <a:endParaRPr lang="en-US" sz="3600" dirty="0"/>
          </a:p>
        </p:txBody>
      </p:sp>
      <p:sp>
        <p:nvSpPr>
          <p:cNvPr id="3" name="Flutter box"/>
          <p:cNvSpPr/>
          <p:nvPr/>
        </p:nvSpPr>
        <p:spPr>
          <a:xfrm>
            <a:off x="640080" y="1371600"/>
            <a:ext cx="3017520" cy="1737360"/>
          </a:xfrm>
          <a:prstGeom prst="roundRect">
            <a:avLst>
              <a:gd name="adj" fmla="val 6316"/>
            </a:avLst>
          </a:prstGeom>
          <a:solidFill>
            <a:schemeClr val="tx2"/>
          </a:solidFill>
          <a:ln/>
        </p:spPr>
      </p:sp>
      <p:sp>
        <p:nvSpPr>
          <p:cNvPr id="4" name="Supabase box"/>
          <p:cNvSpPr/>
          <p:nvPr/>
        </p:nvSpPr>
        <p:spPr>
          <a:xfrm>
            <a:off x="4572000" y="1371600"/>
            <a:ext cx="3017520" cy="1737360"/>
          </a:xfrm>
          <a:prstGeom prst="roundRect">
            <a:avLst>
              <a:gd name="adj" fmla="val 6316"/>
            </a:avLst>
          </a:prstGeom>
          <a:solidFill>
            <a:schemeClr val="accent1"/>
          </a:solidFill>
          <a:ln/>
        </p:spPr>
      </p:sp>
      <p:sp>
        <p:nvSpPr>
          <p:cNvPr id="5" name="ASP.NET box"/>
          <p:cNvSpPr/>
          <p:nvPr/>
        </p:nvSpPr>
        <p:spPr>
          <a:xfrm>
            <a:off x="8503920" y="1371600"/>
            <a:ext cx="3017520" cy="1737360"/>
          </a:xfrm>
          <a:prstGeom prst="roundRect">
            <a:avLst>
              <a:gd name="adj" fmla="val 6316"/>
            </a:avLst>
          </a:prstGeom>
          <a:solidFill>
            <a:schemeClr val="tx2"/>
          </a:solidFill>
          <a:ln/>
        </p:spPr>
      </p:sp>
      <p:pic>
        <p:nvPicPr>
          <p:cNvPr id="6" name="Flutter App icon" descr="Flutter App icon">    </p:cNvPr>
          <p:cNvPicPr>
            <a:picLocks noChangeAspect="1"/>
          </p:cNvPicPr>
          <p:nvPr/>
        </p:nvPicPr>
        <p:blipFill>
          <a:blip r:embed="rId1"/>
          <a:stretch>
            <a:fillRect/>
          </a:stretch>
        </p:blipFill>
        <p:spPr>
          <a:xfrm>
            <a:off x="1874520" y="1554480"/>
            <a:ext cx="548640" cy="548640"/>
          </a:xfrm>
          <a:prstGeom prst="rect">
            <a:avLst/>
          </a:prstGeom>
        </p:spPr>
      </p:pic>
      <p:sp>
        <p:nvSpPr>
          <p:cNvPr id="7" name="Text 4"/>
          <p:cNvSpPr txBox="1"/>
          <p:nvPr/>
        </p:nvSpPr>
        <p:spPr>
          <a:xfrm>
            <a:off x="731520" y="2194560"/>
            <a:ext cx="2834640" cy="777240"/>
          </a:xfrm>
          <a:prstGeom prst="rect">
            <a:avLst/>
          </a:prstGeom>
          <a:noFill/>
          <a:ln/>
        </p:spPr>
        <p:txBody>
          <a:bodyPr wrap="square" lIns="0" tIns="0" rIns="0" bIns="0" rtlCol="0" anchor="t"/>
          <a:lstStyle/>
          <a:p>
            <a:pPr algn="ctr" indent="0" marL="0">
              <a:buNone/>
            </a:pPr>
            <a:r>
              <a:rPr lang="en-US" sz="2000" b="1" dirty="0">
                <a:solidFill>
                  <a:schemeClr val="bg1"/>
                </a:solidFill>
              </a:rPr>
              <a:t>Flutter App</a:t>
            </a:r>
            <a:endParaRPr lang="en-US" sz="2000" dirty="0"/>
          </a:p>
          <a:p>
            <a:pPr algn="ctr" indent="0" marL="0">
              <a:buNone/>
            </a:pPr>
            <a:r>
              <a:rPr lang="en-US" sz="1400" dirty="0">
                <a:solidFill>
                  <a:schemeClr val="bg2"/>
                </a:solidFill>
              </a:rPr>
              <a:t>Customer &amp; Stylist</a:t>
            </a:r>
            <a:endParaRPr lang="en-US" sz="2000" dirty="0"/>
          </a:p>
        </p:txBody>
      </p:sp>
      <p:pic>
        <p:nvPicPr>
          <p:cNvPr id="8" name="Supabase icon" descr="Supabase icon">    </p:cNvPr>
          <p:cNvPicPr>
            <a:picLocks noChangeAspect="1"/>
          </p:cNvPicPr>
          <p:nvPr/>
        </p:nvPicPr>
        <p:blipFill>
          <a:blip r:embed="rId2"/>
          <a:stretch>
            <a:fillRect/>
          </a:stretch>
        </p:blipFill>
        <p:spPr>
          <a:xfrm>
            <a:off x="5806440" y="1554480"/>
            <a:ext cx="548640" cy="548640"/>
          </a:xfrm>
          <a:prstGeom prst="rect">
            <a:avLst/>
          </a:prstGeom>
        </p:spPr>
      </p:pic>
      <p:sp>
        <p:nvSpPr>
          <p:cNvPr id="9" name="Text 5"/>
          <p:cNvSpPr txBox="1"/>
          <p:nvPr/>
        </p:nvSpPr>
        <p:spPr>
          <a:xfrm>
            <a:off x="4663440" y="2194560"/>
            <a:ext cx="2834640" cy="777240"/>
          </a:xfrm>
          <a:prstGeom prst="rect">
            <a:avLst/>
          </a:prstGeom>
          <a:noFill/>
          <a:ln/>
        </p:spPr>
        <p:txBody>
          <a:bodyPr wrap="square" lIns="0" tIns="0" rIns="0" bIns="0" rtlCol="0" anchor="t"/>
          <a:lstStyle/>
          <a:p>
            <a:pPr algn="ctr" indent="0" marL="0">
              <a:buNone/>
            </a:pPr>
            <a:r>
              <a:rPr lang="en-US" sz="2000" b="1" dirty="0">
                <a:solidFill>
                  <a:schemeClr val="tx1"/>
                </a:solidFill>
              </a:rPr>
              <a:t>Supabase</a:t>
            </a:r>
            <a:endParaRPr lang="en-US" sz="2000" dirty="0"/>
          </a:p>
          <a:p>
            <a:pPr algn="ctr" indent="0" marL="0">
              <a:buNone/>
            </a:pPr>
            <a:r>
              <a:rPr lang="en-US" sz="1400" dirty="0">
                <a:solidFill>
                  <a:schemeClr val="tx1"/>
                </a:solidFill>
              </a:rPr>
              <a:t>24 tables · Auth · RLS</a:t>
            </a:r>
            <a:endParaRPr lang="en-US" sz="2000" dirty="0"/>
          </a:p>
        </p:txBody>
      </p:sp>
      <p:pic>
        <p:nvPicPr>
          <p:cNvPr id="10" name="ASP.NET Portal icon" descr="ASP.NET Portal icon">    </p:cNvPr>
          <p:cNvPicPr>
            <a:picLocks noChangeAspect="1"/>
          </p:cNvPicPr>
          <p:nvPr/>
        </p:nvPicPr>
        <p:blipFill>
          <a:blip r:embed="rId3"/>
          <a:stretch>
            <a:fillRect/>
          </a:stretch>
        </p:blipFill>
        <p:spPr>
          <a:xfrm>
            <a:off x="9738360" y="1554480"/>
            <a:ext cx="548640" cy="548640"/>
          </a:xfrm>
          <a:prstGeom prst="rect">
            <a:avLst/>
          </a:prstGeom>
        </p:spPr>
      </p:pic>
      <p:sp>
        <p:nvSpPr>
          <p:cNvPr id="11" name="Text 6"/>
          <p:cNvSpPr txBox="1"/>
          <p:nvPr/>
        </p:nvSpPr>
        <p:spPr>
          <a:xfrm>
            <a:off x="8595360" y="2194560"/>
            <a:ext cx="2834640" cy="777240"/>
          </a:xfrm>
          <a:prstGeom prst="rect">
            <a:avLst/>
          </a:prstGeom>
          <a:noFill/>
          <a:ln/>
        </p:spPr>
        <p:txBody>
          <a:bodyPr wrap="square" lIns="0" tIns="0" rIns="0" bIns="0" rtlCol="0" anchor="t"/>
          <a:lstStyle/>
          <a:p>
            <a:pPr algn="ctr" indent="0" marL="0">
              <a:buNone/>
            </a:pPr>
            <a:r>
              <a:rPr lang="en-US" sz="2000" b="1" dirty="0">
                <a:solidFill>
                  <a:schemeClr val="bg1"/>
                </a:solidFill>
              </a:rPr>
              <a:t>ASP.NET Portal</a:t>
            </a:r>
            <a:endParaRPr lang="en-US" sz="2000" dirty="0"/>
          </a:p>
          <a:p>
            <a:pPr algn="ctr" indent="0" marL="0">
              <a:buNone/>
            </a:pPr>
            <a:r>
              <a:rPr lang="en-US" sz="1400" dirty="0">
                <a:solidFill>
                  <a:schemeClr val="bg2"/>
                </a:solidFill>
              </a:rPr>
              <a:t>Manager</a:t>
            </a:r>
            <a:endParaRPr lang="en-US" sz="2000" dirty="0"/>
          </a:p>
        </p:txBody>
      </p:sp>
      <p:sp>
        <p:nvSpPr>
          <p:cNvPr id="12" name="Flutter-Supabase arrow"/>
          <p:cNvSpPr/>
          <p:nvPr/>
        </p:nvSpPr>
        <p:spPr>
          <a:xfrm>
            <a:off x="3657600" y="2240280"/>
            <a:ext cx="914400" cy="0"/>
          </a:xfrm>
          <a:prstGeom prst="line">
            <a:avLst/>
          </a:prstGeom>
          <a:noFill/>
          <a:ln w="31750">
            <a:solidFill>
              <a:schemeClr val="accent1"/>
            </a:solidFill>
            <a:prstDash val="solid"/>
            <a:headEnd type="triangle"/>
            <a:tailEnd type="triangle"/>
          </a:ln>
        </p:spPr>
      </p:sp>
      <p:sp>
        <p:nvSpPr>
          <p:cNvPr id="13" name="Supabase-ASP.NET arrow"/>
          <p:cNvSpPr/>
          <p:nvPr/>
        </p:nvSpPr>
        <p:spPr>
          <a:xfrm>
            <a:off x="7589520" y="2240280"/>
            <a:ext cx="914400" cy="0"/>
          </a:xfrm>
          <a:prstGeom prst="line">
            <a:avLst/>
          </a:prstGeom>
          <a:noFill/>
          <a:ln w="31750">
            <a:solidFill>
              <a:schemeClr val="accent1"/>
            </a:solidFill>
            <a:prstDash val="solid"/>
            <a:headEnd type="triangle"/>
            <a:tailEnd type="triangle"/>
          </a:ln>
        </p:spPr>
      </p:sp>
      <p:sp>
        <p:nvSpPr>
          <p:cNvPr id="14" name="Text 9"/>
          <p:cNvSpPr txBox="1"/>
          <p:nvPr/>
        </p:nvSpPr>
        <p:spPr>
          <a:xfrm>
            <a:off x="640080" y="3429000"/>
            <a:ext cx="10881360" cy="365760"/>
          </a:xfrm>
          <a:prstGeom prst="rect">
            <a:avLst/>
          </a:prstGeom>
          <a:noFill/>
          <a:ln/>
        </p:spPr>
        <p:txBody>
          <a:bodyPr wrap="square" lIns="0" tIns="0" rIns="0" bIns="0" rtlCol="0" anchor="t"/>
          <a:lstStyle/>
          <a:p>
            <a:pPr indent="0" marL="0">
              <a:buNone/>
            </a:pPr>
            <a:r>
              <a:rPr lang="en-US" sz="1800" b="1" dirty="0">
                <a:solidFill>
                  <a:schemeClr val="accent4"/>
                </a:solidFill>
                <a:latin typeface="Cambria" pitchFamily="34" charset="0"/>
                <a:ea typeface="Cambria" pitchFamily="34" charset="-122"/>
                <a:cs typeface="Cambria" pitchFamily="34" charset="-120"/>
              </a:rPr>
              <a:t>Role-based access through Row Level Security</a:t>
            </a:r>
            <a:endParaRPr lang="en-US" sz="1800" dirty="0"/>
          </a:p>
        </p:txBody>
      </p:sp>
      <p:sp>
        <p:nvSpPr>
          <p:cNvPr id="15" name="Role card 1"/>
          <p:cNvSpPr/>
          <p:nvPr/>
        </p:nvSpPr>
        <p:spPr>
          <a:xfrm>
            <a:off x="640080" y="3931920"/>
            <a:ext cx="3383280" cy="1188720"/>
          </a:xfrm>
          <a:prstGeom prst="roundRect">
            <a:avLst>
              <a:gd name="adj" fmla="val 9231"/>
            </a:avLst>
          </a:prstGeom>
          <a:solidFill>
            <a:schemeClr val="tx2"/>
          </a:solidFill>
          <a:ln/>
        </p:spPr>
      </p:sp>
      <p:sp>
        <p:nvSpPr>
          <p:cNvPr id="16" name="Customers icon circle"/>
          <p:cNvSpPr/>
          <p:nvPr/>
        </p:nvSpPr>
        <p:spPr>
          <a:xfrm>
            <a:off x="868680" y="4224528"/>
            <a:ext cx="603504" cy="603504"/>
          </a:xfrm>
          <a:prstGeom prst="ellipse">
            <a:avLst/>
          </a:prstGeom>
          <a:solidFill>
            <a:schemeClr val="accent1"/>
          </a:solidFill>
          <a:ln/>
        </p:spPr>
      </p:sp>
      <p:pic>
        <p:nvPicPr>
          <p:cNvPr id="17" name="Customers icon" descr="Customers icon">    </p:cNvPr>
          <p:cNvPicPr>
            <a:picLocks noChangeAspect="1"/>
          </p:cNvPicPr>
          <p:nvPr/>
        </p:nvPicPr>
        <p:blipFill>
          <a:blip r:embed="rId4"/>
          <a:stretch>
            <a:fillRect/>
          </a:stretch>
        </p:blipFill>
        <p:spPr>
          <a:xfrm>
            <a:off x="1019556" y="4375404"/>
            <a:ext cx="301752" cy="301752"/>
          </a:xfrm>
          <a:prstGeom prst="rect">
            <a:avLst/>
          </a:prstGeom>
        </p:spPr>
      </p:pic>
      <p:sp>
        <p:nvSpPr>
          <p:cNvPr id="18" name="Text 12"/>
          <p:cNvSpPr txBox="1"/>
          <p:nvPr/>
        </p:nvSpPr>
        <p:spPr>
          <a:xfrm>
            <a:off x="1645920" y="4023360"/>
            <a:ext cx="2286000" cy="1005840"/>
          </a:xfrm>
          <a:prstGeom prst="rect">
            <a:avLst/>
          </a:prstGeom>
          <a:noFill/>
          <a:ln/>
        </p:spPr>
        <p:txBody>
          <a:bodyPr wrap="square" lIns="0" tIns="0" rIns="0" bIns="0" rtlCol="0" anchor="ctr"/>
          <a:lstStyle/>
          <a:p>
            <a:pPr indent="0" marL="0">
              <a:buNone/>
            </a:pPr>
            <a:r>
              <a:rPr lang="en-US" sz="1800" b="1" dirty="0">
                <a:solidFill>
                  <a:schemeClr val="bg1"/>
                </a:solidFill>
              </a:rPr>
              <a:t>Customers</a:t>
            </a:r>
            <a:endParaRPr lang="en-US" sz="1800" dirty="0"/>
          </a:p>
          <a:p>
            <a:pPr indent="0" marL="0">
              <a:buNone/>
            </a:pPr>
            <a:r>
              <a:rPr lang="en-US" sz="1400" dirty="0">
                <a:solidFill>
                  <a:schemeClr val="bg2"/>
                </a:solidFill>
              </a:rPr>
              <a:t>Own data only</a:t>
            </a:r>
            <a:endParaRPr lang="en-US" sz="1800" dirty="0"/>
          </a:p>
        </p:txBody>
      </p:sp>
      <p:sp>
        <p:nvSpPr>
          <p:cNvPr id="19" name="Role card 2"/>
          <p:cNvSpPr/>
          <p:nvPr/>
        </p:nvSpPr>
        <p:spPr>
          <a:xfrm>
            <a:off x="4389120" y="3931920"/>
            <a:ext cx="3383280" cy="1188720"/>
          </a:xfrm>
          <a:prstGeom prst="roundRect">
            <a:avLst>
              <a:gd name="adj" fmla="val 9231"/>
            </a:avLst>
          </a:prstGeom>
          <a:solidFill>
            <a:schemeClr val="tx2"/>
          </a:solidFill>
          <a:ln/>
        </p:spPr>
      </p:sp>
      <p:sp>
        <p:nvSpPr>
          <p:cNvPr id="20" name="Stylists icon circle"/>
          <p:cNvSpPr/>
          <p:nvPr/>
        </p:nvSpPr>
        <p:spPr>
          <a:xfrm>
            <a:off x="4617720" y="4224528"/>
            <a:ext cx="603504" cy="603504"/>
          </a:xfrm>
          <a:prstGeom prst="ellipse">
            <a:avLst/>
          </a:prstGeom>
          <a:solidFill>
            <a:schemeClr val="accent1"/>
          </a:solidFill>
          <a:ln/>
        </p:spPr>
      </p:sp>
      <p:pic>
        <p:nvPicPr>
          <p:cNvPr id="21" name="Stylists icon" descr="Stylists icon">    </p:cNvPr>
          <p:cNvPicPr>
            <a:picLocks noChangeAspect="1"/>
          </p:cNvPicPr>
          <p:nvPr/>
        </p:nvPicPr>
        <p:blipFill>
          <a:blip r:embed="rId5"/>
          <a:stretch>
            <a:fillRect/>
          </a:stretch>
        </p:blipFill>
        <p:spPr>
          <a:xfrm>
            <a:off x="4768596" y="4375404"/>
            <a:ext cx="301752" cy="301752"/>
          </a:xfrm>
          <a:prstGeom prst="rect">
            <a:avLst/>
          </a:prstGeom>
        </p:spPr>
      </p:pic>
      <p:sp>
        <p:nvSpPr>
          <p:cNvPr id="22" name="Text 15"/>
          <p:cNvSpPr txBox="1"/>
          <p:nvPr/>
        </p:nvSpPr>
        <p:spPr>
          <a:xfrm>
            <a:off x="5394960" y="4023360"/>
            <a:ext cx="2286000" cy="1005840"/>
          </a:xfrm>
          <a:prstGeom prst="rect">
            <a:avLst/>
          </a:prstGeom>
          <a:noFill/>
          <a:ln/>
        </p:spPr>
        <p:txBody>
          <a:bodyPr wrap="square" lIns="0" tIns="0" rIns="0" bIns="0" rtlCol="0" anchor="ctr"/>
          <a:lstStyle/>
          <a:p>
            <a:pPr indent="0" marL="0">
              <a:buNone/>
            </a:pPr>
            <a:r>
              <a:rPr lang="en-US" sz="1800" b="1" dirty="0">
                <a:solidFill>
                  <a:schemeClr val="bg1"/>
                </a:solidFill>
              </a:rPr>
              <a:t>Stylists</a:t>
            </a:r>
            <a:endParaRPr lang="en-US" sz="1800" dirty="0"/>
          </a:p>
          <a:p>
            <a:pPr indent="0" marL="0">
              <a:buNone/>
            </a:pPr>
            <a:r>
              <a:rPr lang="en-US" sz="1400" dirty="0">
                <a:solidFill>
                  <a:schemeClr val="bg2"/>
                </a:solidFill>
              </a:rPr>
              <a:t>Assigned schedules</a:t>
            </a:r>
            <a:endParaRPr lang="en-US" sz="1800" dirty="0"/>
          </a:p>
        </p:txBody>
      </p:sp>
      <p:sp>
        <p:nvSpPr>
          <p:cNvPr id="23" name="Role card 3"/>
          <p:cNvSpPr/>
          <p:nvPr/>
        </p:nvSpPr>
        <p:spPr>
          <a:xfrm>
            <a:off x="8138160" y="3931920"/>
            <a:ext cx="3383280" cy="1188720"/>
          </a:xfrm>
          <a:prstGeom prst="roundRect">
            <a:avLst>
              <a:gd name="adj" fmla="val 9231"/>
            </a:avLst>
          </a:prstGeom>
          <a:solidFill>
            <a:schemeClr val="tx2"/>
          </a:solidFill>
          <a:ln/>
        </p:spPr>
      </p:sp>
      <p:sp>
        <p:nvSpPr>
          <p:cNvPr id="24" name="Managers icon circle"/>
          <p:cNvSpPr/>
          <p:nvPr/>
        </p:nvSpPr>
        <p:spPr>
          <a:xfrm>
            <a:off x="8366760" y="4224528"/>
            <a:ext cx="603504" cy="603504"/>
          </a:xfrm>
          <a:prstGeom prst="ellipse">
            <a:avLst/>
          </a:prstGeom>
          <a:solidFill>
            <a:schemeClr val="accent1"/>
          </a:solidFill>
          <a:ln/>
        </p:spPr>
      </p:sp>
      <p:pic>
        <p:nvPicPr>
          <p:cNvPr id="25" name="Managers icon" descr="Managers icon">    </p:cNvPr>
          <p:cNvPicPr>
            <a:picLocks noChangeAspect="1"/>
          </p:cNvPicPr>
          <p:nvPr/>
        </p:nvPicPr>
        <p:blipFill>
          <a:blip r:embed="rId6"/>
          <a:stretch>
            <a:fillRect/>
          </a:stretch>
        </p:blipFill>
        <p:spPr>
          <a:xfrm>
            <a:off x="8517636" y="4375404"/>
            <a:ext cx="301752" cy="301752"/>
          </a:xfrm>
          <a:prstGeom prst="rect">
            <a:avLst/>
          </a:prstGeom>
        </p:spPr>
      </p:pic>
      <p:sp>
        <p:nvSpPr>
          <p:cNvPr id="26" name="Text 18"/>
          <p:cNvSpPr txBox="1"/>
          <p:nvPr/>
        </p:nvSpPr>
        <p:spPr>
          <a:xfrm>
            <a:off x="9144000" y="4023360"/>
            <a:ext cx="2286000" cy="1005840"/>
          </a:xfrm>
          <a:prstGeom prst="rect">
            <a:avLst/>
          </a:prstGeom>
          <a:noFill/>
          <a:ln/>
        </p:spPr>
        <p:txBody>
          <a:bodyPr wrap="square" lIns="0" tIns="0" rIns="0" bIns="0" rtlCol="0" anchor="ctr"/>
          <a:lstStyle/>
          <a:p>
            <a:pPr indent="0" marL="0">
              <a:buNone/>
            </a:pPr>
            <a:r>
              <a:rPr lang="en-US" sz="1800" b="1" dirty="0">
                <a:solidFill>
                  <a:schemeClr val="bg1"/>
                </a:solidFill>
              </a:rPr>
              <a:t>Managers</a:t>
            </a:r>
            <a:endParaRPr lang="en-US" sz="1800" dirty="0"/>
          </a:p>
          <a:p>
            <a:pPr indent="0" marL="0">
              <a:buNone/>
            </a:pPr>
            <a:r>
              <a:rPr lang="en-US" sz="1400" dirty="0">
                <a:solidFill>
                  <a:schemeClr val="bg2"/>
                </a:solidFill>
              </a:rPr>
              <a:t>Full administrative access</a:t>
            </a:r>
            <a:endParaRPr lang="en-US" sz="1800" dirty="0"/>
          </a:p>
        </p:txBody>
      </p:sp>
      <p:sp>
        <p:nvSpPr>
          <p:cNvPr id="27" name="Text 19"/>
          <p:cNvSpPr txBox="1"/>
          <p:nvPr/>
        </p:nvSpPr>
        <p:spPr>
          <a:xfrm>
            <a:off x="640080" y="5440680"/>
            <a:ext cx="10881360" cy="640080"/>
          </a:xfrm>
          <a:prstGeom prst="rect">
            <a:avLst/>
          </a:prstGeom>
          <a:noFill/>
          <a:ln/>
        </p:spPr>
        <p:txBody>
          <a:bodyPr wrap="square" lIns="0" tIns="0" rIns="0" bIns="0" rtlCol="0" anchor="t"/>
          <a:lstStyle/>
          <a:p>
            <a:pPr indent="0" marL="0">
              <a:buNone/>
            </a:pPr>
            <a:r>
              <a:rPr lang="en-US" sz="1600" dirty="0">
                <a:solidFill>
                  <a:schemeClr val="bg2"/>
                </a:solidFill>
              </a:rPr>
              <a:t>Full 24-table ERD schema approved in Phase 2: Bookings, Profiles, Schedules, Promotions, Leave Requests and more.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31520"/>
          </a:xfrm>
          <a:prstGeom prst="rect">
            <a:avLst/>
          </a:prstGeom>
          <a:noFill/>
          <a:ln/>
        </p:spPr>
        <p:txBody>
          <a:bodyPr wrap="square" lIns="0" tIns="0" rIns="0" bIns="0" rtlCol="0" anchor="ctr"/>
          <a:lstStyle/>
          <a:p>
            <a:pPr algn="l" indent="0" marL="0">
              <a:buNone/>
            </a:pPr>
            <a:r>
              <a:rPr lang="en-US" sz="3600" b="1" dirty="0">
                <a:solidFill>
                  <a:schemeClr val="accent1"/>
                </a:solidFill>
              </a:rPr>
              <a:t>Flutter Mobile Application</a:t>
            </a:r>
            <a:endParaRPr lang="en-US" sz="3600" dirty="0"/>
          </a:p>
        </p:txBody>
      </p:sp>
      <p:sp>
        <p:nvSpPr>
          <p:cNvPr id="3" name="Text 1"/>
          <p:cNvSpPr txBox="1"/>
          <p:nvPr/>
        </p:nvSpPr>
        <p:spPr>
          <a:xfrm>
            <a:off x="640080" y="1143000"/>
            <a:ext cx="5486400" cy="320040"/>
          </a:xfrm>
          <a:prstGeom prst="rect">
            <a:avLst/>
          </a:prstGeom>
          <a:noFill/>
          <a:ln/>
        </p:spPr>
        <p:txBody>
          <a:bodyPr wrap="square" lIns="0" tIns="0" rIns="0" bIns="0" rtlCol="0" anchor="t"/>
          <a:lstStyle/>
          <a:p>
            <a:pPr indent="0" marL="0">
              <a:buNone/>
            </a:pPr>
            <a:r>
              <a:rPr lang="en-US" sz="1400" dirty="0">
                <a:solidFill>
                  <a:schemeClr val="bg2"/>
                </a:solidFill>
              </a:rPr>
              <a:t>Presented by Bennet Linda &amp; Nyakallo Pali</a:t>
            </a:r>
            <a:endParaRPr lang="en-US" sz="1400" dirty="0"/>
          </a:p>
        </p:txBody>
      </p:sp>
      <p:sp>
        <p:nvSpPr>
          <p:cNvPr id="4" name="Text 2"/>
          <p:cNvSpPr txBox="1"/>
          <p:nvPr/>
        </p:nvSpPr>
        <p:spPr>
          <a:xfrm>
            <a:off x="640080" y="1737360"/>
            <a:ext cx="5486400" cy="4480560"/>
          </a:xfrm>
          <a:prstGeom prst="rect">
            <a:avLst/>
          </a:prstGeom>
          <a:noFill/>
          <a:ln/>
        </p:spPr>
        <p:txBody>
          <a:bodyPr wrap="square" lIns="0" tIns="0" rIns="0" bIns="0" rtlCol="0" anchor="t"/>
          <a:lstStyle/>
          <a:p>
            <a:pPr marL="342900" indent="-342900">
              <a:buSzPct val="100000"/>
              <a:buChar char="•"/>
            </a:pPr>
            <a:r>
              <a:rPr lang="en-US" sz="1800" b="1" dirty="0">
                <a:solidFill>
                  <a:schemeClr val="accent4"/>
                </a:solidFill>
              </a:rPr>
              <a:t>Role Selection: </a:t>
            </a:r>
            <a:pPr indent="0" marL="0">
              <a:spcAft>
                <a:spcPts val="1200"/>
              </a:spcAft>
              <a:buNone/>
            </a:pPr>
            <a:r>
              <a:rPr lang="en-US" sz="1800" dirty="0">
                <a:solidFill>
                  <a:schemeClr val="bg1"/>
                </a:solidFill>
              </a:rPr>
              <a:t>Shared app for Customer and Stylist.</a:t>
            </a:r>
            <a:endParaRPr lang="en-US" sz="1800" dirty="0"/>
          </a:p>
          <a:p>
            <a:pPr marL="342900" indent="-342900">
              <a:buSzPct val="100000"/>
              <a:buChar char="•"/>
            </a:pPr>
            <a:r>
              <a:rPr lang="en-US" sz="1800" b="1" dirty="0">
                <a:solidFill>
                  <a:schemeClr val="accent4"/>
                </a:solidFill>
              </a:rPr>
              <a:t>Booking Engine: </a:t>
            </a:r>
            <a:pPr indent="0" marL="0">
              <a:spcAft>
                <a:spcPts val="1200"/>
              </a:spcAft>
              <a:buNone/>
            </a:pPr>
            <a:r>
              <a:rPr lang="en-US" sz="1800" dirty="0">
                <a:solidFill>
                  <a:schemeClr val="bg1"/>
                </a:solidFill>
              </a:rPr>
              <a:t>Real-time availability, Cash/Card preference and BookingGate logic to prevent double bookings.</a:t>
            </a:r>
            <a:endParaRPr lang="en-US" sz="1800" dirty="0"/>
          </a:p>
          <a:p>
            <a:pPr marL="342900" indent="-342900">
              <a:buSzPct val="100000"/>
              <a:buChar char="•"/>
            </a:pPr>
            <a:r>
              <a:rPr lang="en-US" sz="1800" b="1" dirty="0">
                <a:solidFill>
                  <a:schemeClr val="accent4"/>
                </a:solidFill>
              </a:rPr>
              <a:t>Customer: </a:t>
            </a:r>
            <a:pPr indent="0" marL="0">
              <a:spcAft>
                <a:spcPts val="1200"/>
              </a:spcAft>
              <a:buNone/>
            </a:pPr>
            <a:r>
              <a:rPr lang="en-US" sz="1800" dirty="0">
                <a:solidFill>
                  <a:schemeClr val="bg1"/>
                </a:solidFill>
              </a:rPr>
              <a:t>Book, cancel, view salon location, view promotions.</a:t>
            </a:r>
            <a:endParaRPr lang="en-US" sz="1800" dirty="0"/>
          </a:p>
          <a:p>
            <a:pPr marL="342900" indent="-342900">
              <a:buSzPct val="100000"/>
              <a:buChar char="•"/>
            </a:pPr>
            <a:r>
              <a:rPr lang="en-US" sz="1800" b="1" dirty="0">
                <a:solidFill>
                  <a:schemeClr val="accent4"/>
                </a:solidFill>
              </a:rPr>
              <a:t>Stylist: </a:t>
            </a:r>
            <a:pPr indent="0" marL="0">
              <a:spcAft>
                <a:spcPts val="1200"/>
              </a:spcAft>
              <a:buNone/>
            </a:pPr>
            <a:r>
              <a:rPr lang="en-US" sz="1800" dirty="0">
                <a:solidFill>
                  <a:schemeClr val="bg1"/>
                </a:solidFill>
              </a:rPr>
              <a:t>View daily schedule, manage working hours, block dates.</a:t>
            </a:r>
            <a:endParaRPr lang="en-US" sz="1800" dirty="0"/>
          </a:p>
          <a:p>
            <a:pPr marL="342900" indent="-342900">
              <a:buSzPct val="100000"/>
              <a:buChar char="•"/>
            </a:pPr>
            <a:r>
              <a:rPr lang="en-US" sz="1800" b="1" dirty="0">
                <a:solidFill>
                  <a:schemeClr val="accent4"/>
                </a:solidFill>
              </a:rPr>
              <a:t>Design: </a:t>
            </a:r>
            <a:pPr indent="0" marL="0">
              <a:spcAft>
                <a:spcPts val="1200"/>
              </a:spcAft>
              <a:buNone/>
            </a:pPr>
            <a:r>
              <a:rPr lang="en-US" sz="1800" dirty="0">
                <a:solidFill>
                  <a:schemeClr val="bg1"/>
                </a:solidFill>
              </a:rPr>
              <a:t>Premium black-and-gold UI reflecting the salon’s brand.</a:t>
            </a:r>
            <a:endParaRPr lang="en-US" sz="1800" dirty="0"/>
          </a:p>
        </p:txBody>
      </p:sp>
      <p:pic>
        <p:nvPicPr>
          <p:cNvPr id="5" name="Flutter booking screen – service, stylist, date and time" descr="Flutter booking screen – service, stylist, date and time">    </p:cNvPr>
          <p:cNvPicPr>
            <a:picLocks noChangeAspect="1"/>
          </p:cNvPicPr>
          <p:nvPr/>
        </p:nvPicPr>
        <p:blipFill>
          <a:blip r:embed="rId1"/>
          <a:stretch>
            <a:fillRect/>
          </a:stretch>
        </p:blipFill>
        <p:spPr>
          <a:xfrm>
            <a:off x="6949440" y="1417320"/>
            <a:ext cx="2103120" cy="2225394"/>
          </a:xfrm>
          <a:prstGeom prst="rect">
            <a:avLst/>
          </a:prstGeom>
        </p:spPr>
      </p:pic>
      <p:pic>
        <p:nvPicPr>
          <p:cNvPr id="6" name="Flutter Review and Pay – payment method selection" descr="Flutter Review and Pay – payment method selection">    </p:cNvPr>
          <p:cNvPicPr>
            <a:picLocks noChangeAspect="1"/>
          </p:cNvPicPr>
          <p:nvPr/>
        </p:nvPicPr>
        <p:blipFill>
          <a:blip r:embed="rId2"/>
          <a:stretch>
            <a:fillRect/>
          </a:stretch>
        </p:blipFill>
        <p:spPr>
          <a:xfrm>
            <a:off x="9235440" y="1417320"/>
            <a:ext cx="2103120" cy="2302883"/>
          </a:xfrm>
          <a:prstGeom prst="rect">
            <a:avLst/>
          </a:prstGeom>
        </p:spPr>
      </p:pic>
      <p:pic>
        <p:nvPicPr>
          <p:cNvPr id="7" name="Flutter My Bookings with cancel option" descr="Flutter My Bookings with cancel option">    </p:cNvPr>
          <p:cNvPicPr>
            <a:picLocks noChangeAspect="1"/>
          </p:cNvPicPr>
          <p:nvPr/>
        </p:nvPicPr>
        <p:blipFill>
          <a:blip r:embed="rId3"/>
          <a:stretch>
            <a:fillRect/>
          </a:stretch>
        </p:blipFill>
        <p:spPr>
          <a:xfrm>
            <a:off x="6949440" y="3779874"/>
            <a:ext cx="2103120" cy="2270285"/>
          </a:xfrm>
          <a:prstGeom prst="rect">
            <a:avLst/>
          </a:prstGeom>
        </p:spPr>
      </p:pic>
      <p:pic>
        <p:nvPicPr>
          <p:cNvPr id="8" name="Flutter stylist availability and schedule" descr="Flutter stylist availability and schedule">    </p:cNvPr>
          <p:cNvPicPr>
            <a:picLocks noChangeAspect="1"/>
          </p:cNvPicPr>
          <p:nvPr/>
        </p:nvPicPr>
        <p:blipFill>
          <a:blip r:embed="rId4"/>
          <a:stretch>
            <a:fillRect/>
          </a:stretch>
        </p:blipFill>
        <p:spPr>
          <a:xfrm>
            <a:off x="9235440" y="3779874"/>
            <a:ext cx="2103120" cy="209635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31520"/>
          </a:xfrm>
          <a:prstGeom prst="rect">
            <a:avLst/>
          </a:prstGeom>
          <a:noFill/>
          <a:ln/>
        </p:spPr>
        <p:txBody>
          <a:bodyPr wrap="square" lIns="0" tIns="0" rIns="0" bIns="0" rtlCol="0" anchor="ctr"/>
          <a:lstStyle/>
          <a:p>
            <a:pPr algn="l" indent="0" marL="0">
              <a:buNone/>
            </a:pPr>
            <a:r>
              <a:rPr lang="en-US" sz="3600" b="1" dirty="0">
                <a:solidFill>
                  <a:schemeClr val="accent1"/>
                </a:solidFill>
              </a:rPr>
              <a:t>ASP.NET Manager Portal</a:t>
            </a:r>
            <a:endParaRPr lang="en-US" sz="3600" dirty="0"/>
          </a:p>
        </p:txBody>
      </p:sp>
      <p:sp>
        <p:nvSpPr>
          <p:cNvPr id="3" name="Text 1"/>
          <p:cNvSpPr txBox="1"/>
          <p:nvPr/>
        </p:nvSpPr>
        <p:spPr>
          <a:xfrm>
            <a:off x="640080" y="1143000"/>
            <a:ext cx="5486400" cy="320040"/>
          </a:xfrm>
          <a:prstGeom prst="rect">
            <a:avLst/>
          </a:prstGeom>
          <a:noFill/>
          <a:ln/>
        </p:spPr>
        <p:txBody>
          <a:bodyPr wrap="square" lIns="0" tIns="0" rIns="0" bIns="0" rtlCol="0" anchor="t"/>
          <a:lstStyle/>
          <a:p>
            <a:pPr indent="0" marL="0">
              <a:buNone/>
            </a:pPr>
            <a:r>
              <a:rPr lang="en-US" sz="1400" dirty="0">
                <a:solidFill>
                  <a:schemeClr val="bg2"/>
                </a:solidFill>
              </a:rPr>
              <a:t>Presented by Goitse, Thabang &amp; Yamkela</a:t>
            </a:r>
            <a:endParaRPr lang="en-US" sz="1400" dirty="0"/>
          </a:p>
        </p:txBody>
      </p:sp>
      <p:sp>
        <p:nvSpPr>
          <p:cNvPr id="4" name="Text 2"/>
          <p:cNvSpPr txBox="1"/>
          <p:nvPr/>
        </p:nvSpPr>
        <p:spPr>
          <a:xfrm>
            <a:off x="640080" y="1737360"/>
            <a:ext cx="5120640" cy="4480560"/>
          </a:xfrm>
          <a:prstGeom prst="rect">
            <a:avLst/>
          </a:prstGeom>
          <a:noFill/>
          <a:ln/>
        </p:spPr>
        <p:txBody>
          <a:bodyPr wrap="square" lIns="0" tIns="0" rIns="0" bIns="0" rtlCol="0" anchor="t"/>
          <a:lstStyle/>
          <a:p>
            <a:pPr marL="342900" indent="-342900">
              <a:buSzPct val="100000"/>
              <a:buChar char="•"/>
            </a:pPr>
            <a:r>
              <a:rPr lang="en-US" sz="1800" b="1" dirty="0">
                <a:solidFill>
                  <a:schemeClr val="accent4"/>
                </a:solidFill>
              </a:rPr>
              <a:t>Secure Login: </a:t>
            </a:r>
            <a:pPr indent="0" marL="0">
              <a:spcAft>
                <a:spcPts val="1200"/>
              </a:spcAft>
              <a:buNone/>
            </a:pPr>
            <a:r>
              <a:rPr lang="en-US" sz="1800" dirty="0">
                <a:solidFill>
                  <a:schemeClr val="bg1"/>
                </a:solidFill>
              </a:rPr>
              <a:t>Cookie-based authentication restricted to the Manager role.</a:t>
            </a:r>
            <a:endParaRPr lang="en-US" sz="1800" dirty="0"/>
          </a:p>
          <a:p>
            <a:pPr marL="342900" indent="-342900">
              <a:buSzPct val="100000"/>
              <a:buChar char="•"/>
            </a:pPr>
            <a:r>
              <a:rPr lang="en-US" sz="1800" b="1" dirty="0">
                <a:solidFill>
                  <a:schemeClr val="accent4"/>
                </a:solidFill>
              </a:rPr>
              <a:t>Dashboard: </a:t>
            </a:r>
            <a:pPr indent="0" marL="0">
              <a:spcAft>
                <a:spcPts val="1200"/>
              </a:spcAft>
              <a:buNone/>
            </a:pPr>
            <a:r>
              <a:rPr lang="en-US" sz="1800" dirty="0">
                <a:solidFill>
                  <a:schemeClr val="bg1"/>
                </a:solidFill>
              </a:rPr>
              <a:t>Real-time metrics on bookings, revenue and cancellations.</a:t>
            </a:r>
            <a:endParaRPr lang="en-US" sz="1800" dirty="0"/>
          </a:p>
          <a:p>
            <a:pPr marL="342900" indent="-342900">
              <a:buSzPct val="100000"/>
              <a:buChar char="•"/>
            </a:pPr>
            <a:r>
              <a:rPr lang="en-US" sz="1800" b="1" dirty="0">
                <a:solidFill>
                  <a:schemeClr val="accent4"/>
                </a:solidFill>
              </a:rPr>
              <a:t>Management: </a:t>
            </a:r>
            <a:pPr indent="0" marL="0">
              <a:spcAft>
                <a:spcPts val="1200"/>
              </a:spcAft>
              <a:buNone/>
            </a:pPr>
            <a:r>
              <a:rPr lang="en-US" sz="1800" dirty="0">
                <a:solidFill>
                  <a:schemeClr val="bg1"/>
                </a:solidFill>
              </a:rPr>
              <a:t>Full CRUD for Bookings, Stylists, Services and Promotions.</a:t>
            </a:r>
            <a:endParaRPr lang="en-US" sz="1800" dirty="0"/>
          </a:p>
          <a:p>
            <a:pPr marL="342900" indent="-342900">
              <a:buSzPct val="100000"/>
              <a:buChar char="•"/>
            </a:pPr>
            <a:r>
              <a:rPr lang="en-US" sz="1800" b="1" dirty="0">
                <a:solidFill>
                  <a:schemeClr val="accent4"/>
                </a:solidFill>
              </a:rPr>
              <a:t>Enquiries &amp; Reviews: </a:t>
            </a:r>
            <a:pPr indent="0" marL="0">
              <a:spcAft>
                <a:spcPts val="1200"/>
              </a:spcAft>
              <a:buNone/>
            </a:pPr>
            <a:r>
              <a:rPr lang="en-US" sz="1800" dirty="0">
                <a:solidFill>
                  <a:schemeClr val="bg1"/>
                </a:solidFill>
              </a:rPr>
              <a:t>Reply to customer enquiries and send apologies directly to the customer’s Flutter inbox.</a:t>
            </a:r>
            <a:endParaRPr lang="en-US" sz="1800" dirty="0"/>
          </a:p>
        </p:txBody>
      </p:sp>
      <p:pic>
        <p:nvPicPr>
          <p:cNvPr id="5" name="ASP.NET dashboard with live metrics" descr="ASP.NET dashboard with live metrics">    </p:cNvPr>
          <p:cNvPicPr>
            <a:picLocks noChangeAspect="1"/>
          </p:cNvPicPr>
          <p:nvPr/>
        </p:nvPicPr>
        <p:blipFill>
          <a:blip r:embed="rId1"/>
          <a:stretch>
            <a:fillRect/>
          </a:stretch>
        </p:blipFill>
        <p:spPr>
          <a:xfrm>
            <a:off x="6949440" y="1463040"/>
            <a:ext cx="4572000" cy="2301240"/>
          </a:xfrm>
          <a:prstGeom prst="rect">
            <a:avLst/>
          </a:prstGeom>
        </p:spPr>
      </p:pic>
      <p:pic>
        <p:nvPicPr>
          <p:cNvPr id="6" name="ASP.NET bookings management page" descr="ASP.NET bookings management page">    </p:cNvPr>
          <p:cNvPicPr>
            <a:picLocks noChangeAspect="1"/>
          </p:cNvPicPr>
          <p:nvPr/>
        </p:nvPicPr>
        <p:blipFill>
          <a:blip r:embed="rId2"/>
          <a:stretch>
            <a:fillRect/>
          </a:stretch>
        </p:blipFill>
        <p:spPr>
          <a:xfrm>
            <a:off x="6949440" y="3992880"/>
            <a:ext cx="4572000" cy="2292096"/>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31520"/>
          </a:xfrm>
          <a:prstGeom prst="rect">
            <a:avLst/>
          </a:prstGeom>
          <a:noFill/>
          <a:ln/>
        </p:spPr>
        <p:txBody>
          <a:bodyPr wrap="square" lIns="0" tIns="0" rIns="0" bIns="0" rtlCol="0" anchor="ctr"/>
          <a:lstStyle/>
          <a:p>
            <a:pPr algn="l" indent="0" marL="0">
              <a:buNone/>
            </a:pPr>
            <a:r>
              <a:rPr lang="en-US" sz="3600" b="1" dirty="0">
                <a:solidFill>
                  <a:schemeClr val="accent1"/>
                </a:solidFill>
              </a:rPr>
              <a:t>Integration &amp; Shared Processes</a:t>
            </a:r>
            <a:endParaRPr lang="en-US" sz="3600" dirty="0"/>
          </a:p>
        </p:txBody>
      </p:sp>
      <p:sp>
        <p:nvSpPr>
          <p:cNvPr id="3" name="Text 1"/>
          <p:cNvSpPr txBox="1"/>
          <p:nvPr/>
        </p:nvSpPr>
        <p:spPr>
          <a:xfrm>
            <a:off x="640080" y="1143000"/>
            <a:ext cx="7315200" cy="320040"/>
          </a:xfrm>
          <a:prstGeom prst="rect">
            <a:avLst/>
          </a:prstGeom>
          <a:noFill/>
          <a:ln/>
        </p:spPr>
        <p:txBody>
          <a:bodyPr wrap="square" lIns="0" tIns="0" rIns="0" bIns="0" rtlCol="0" anchor="t"/>
          <a:lstStyle/>
          <a:p>
            <a:pPr indent="0" marL="0">
              <a:buNone/>
            </a:pPr>
            <a:r>
              <a:rPr lang="en-US" sz="1400" dirty="0">
                <a:solidFill>
                  <a:schemeClr val="bg2"/>
                </a:solidFill>
              </a:rPr>
              <a:t>Two shared processes demonstrated today</a:t>
            </a:r>
            <a:endParaRPr lang="en-US" sz="1400" dirty="0"/>
          </a:p>
        </p:txBody>
      </p:sp>
      <p:sp>
        <p:nvSpPr>
          <p:cNvPr id="4" name="Flutter flow box"/>
          <p:cNvSpPr/>
          <p:nvPr/>
        </p:nvSpPr>
        <p:spPr>
          <a:xfrm>
            <a:off x="640080" y="1645920"/>
            <a:ext cx="2926080" cy="914400"/>
          </a:xfrm>
          <a:prstGeom prst="roundRect">
            <a:avLst>
              <a:gd name="adj" fmla="val 12000"/>
            </a:avLst>
          </a:prstGeom>
          <a:solidFill>
            <a:schemeClr val="tx2"/>
          </a:solidFill>
          <a:ln/>
        </p:spPr>
      </p:sp>
      <p:sp>
        <p:nvSpPr>
          <p:cNvPr id="5" name="Text 3"/>
          <p:cNvSpPr txBox="1"/>
          <p:nvPr/>
        </p:nvSpPr>
        <p:spPr>
          <a:xfrm>
            <a:off x="640080" y="1645920"/>
            <a:ext cx="2926080" cy="914400"/>
          </a:xfrm>
          <a:prstGeom prst="rect">
            <a:avLst/>
          </a:prstGeom>
          <a:noFill/>
          <a:ln/>
        </p:spPr>
        <p:txBody>
          <a:bodyPr wrap="square" lIns="0" tIns="0" rIns="0" bIns="0" rtlCol="0" anchor="ctr"/>
          <a:lstStyle/>
          <a:p>
            <a:pPr algn="ctr" indent="0" marL="0">
              <a:buNone/>
            </a:pPr>
            <a:r>
              <a:rPr lang="en-US" sz="2000" b="1" dirty="0">
                <a:solidFill>
                  <a:schemeClr val="bg1"/>
                </a:solidFill>
              </a:rPr>
              <a:t>Flutter</a:t>
            </a:r>
            <a:endParaRPr lang="en-US" sz="2000" dirty="0"/>
          </a:p>
          <a:p>
            <a:pPr algn="ctr" indent="0" marL="0">
              <a:buNone/>
            </a:pPr>
            <a:r>
              <a:rPr lang="en-US" sz="1400" dirty="0">
                <a:solidFill>
                  <a:schemeClr val="bg1"/>
                </a:solidFill>
              </a:rPr>
              <a:t>Customer action</a:t>
            </a:r>
            <a:endParaRPr lang="en-US" sz="2000" dirty="0"/>
          </a:p>
        </p:txBody>
      </p:sp>
      <p:sp>
        <p:nvSpPr>
          <p:cNvPr id="6" name="Flow arrow 1"/>
          <p:cNvSpPr/>
          <p:nvPr/>
        </p:nvSpPr>
        <p:spPr>
          <a:xfrm>
            <a:off x="3566160" y="2103120"/>
            <a:ext cx="1051560" cy="0"/>
          </a:xfrm>
          <a:prstGeom prst="line">
            <a:avLst/>
          </a:prstGeom>
          <a:noFill/>
          <a:ln w="31750">
            <a:solidFill>
              <a:schemeClr val="accent1"/>
            </a:solidFill>
            <a:prstDash val="solid"/>
            <a:headEnd type="triangle"/>
            <a:tailEnd type="triangle"/>
          </a:ln>
        </p:spPr>
      </p:sp>
      <p:sp>
        <p:nvSpPr>
          <p:cNvPr id="7" name="Supabase flow box"/>
          <p:cNvSpPr/>
          <p:nvPr/>
        </p:nvSpPr>
        <p:spPr>
          <a:xfrm>
            <a:off x="4617720" y="1645920"/>
            <a:ext cx="2926080" cy="914400"/>
          </a:xfrm>
          <a:prstGeom prst="roundRect">
            <a:avLst>
              <a:gd name="adj" fmla="val 12000"/>
            </a:avLst>
          </a:prstGeom>
          <a:solidFill>
            <a:schemeClr val="accent1"/>
          </a:solidFill>
          <a:ln/>
        </p:spPr>
      </p:sp>
      <p:sp>
        <p:nvSpPr>
          <p:cNvPr id="8" name="Text 6"/>
          <p:cNvSpPr txBox="1"/>
          <p:nvPr/>
        </p:nvSpPr>
        <p:spPr>
          <a:xfrm>
            <a:off x="4617720" y="1645920"/>
            <a:ext cx="2926080" cy="914400"/>
          </a:xfrm>
          <a:prstGeom prst="rect">
            <a:avLst/>
          </a:prstGeom>
          <a:noFill/>
          <a:ln/>
        </p:spPr>
        <p:txBody>
          <a:bodyPr wrap="square" lIns="0" tIns="0" rIns="0" bIns="0" rtlCol="0" anchor="ctr"/>
          <a:lstStyle/>
          <a:p>
            <a:pPr algn="ctr" indent="0" marL="0">
              <a:buNone/>
            </a:pPr>
            <a:r>
              <a:rPr lang="en-US" sz="2000" b="1" dirty="0">
                <a:solidFill>
                  <a:schemeClr val="tx1"/>
                </a:solidFill>
              </a:rPr>
              <a:t>Supabase</a:t>
            </a:r>
            <a:endParaRPr lang="en-US" sz="2000" dirty="0"/>
          </a:p>
          <a:p>
            <a:pPr algn="ctr" indent="0" marL="0">
              <a:buNone/>
            </a:pPr>
            <a:r>
              <a:rPr lang="en-US" sz="1400" dirty="0">
                <a:solidFill>
                  <a:schemeClr val="tx1"/>
                </a:solidFill>
              </a:rPr>
              <a:t>Shared data</a:t>
            </a:r>
            <a:endParaRPr lang="en-US" sz="2000" dirty="0"/>
          </a:p>
        </p:txBody>
      </p:sp>
      <p:sp>
        <p:nvSpPr>
          <p:cNvPr id="9" name="Flow arrow 2"/>
          <p:cNvSpPr/>
          <p:nvPr/>
        </p:nvSpPr>
        <p:spPr>
          <a:xfrm>
            <a:off x="7543800" y="2103120"/>
            <a:ext cx="1051560" cy="0"/>
          </a:xfrm>
          <a:prstGeom prst="line">
            <a:avLst/>
          </a:prstGeom>
          <a:noFill/>
          <a:ln w="31750">
            <a:solidFill>
              <a:schemeClr val="accent1"/>
            </a:solidFill>
            <a:prstDash val="solid"/>
            <a:headEnd type="triangle"/>
            <a:tailEnd type="triangle"/>
          </a:ln>
        </p:spPr>
      </p:sp>
      <p:sp>
        <p:nvSpPr>
          <p:cNvPr id="10" name="ASP.NET flow box"/>
          <p:cNvSpPr/>
          <p:nvPr/>
        </p:nvSpPr>
        <p:spPr>
          <a:xfrm>
            <a:off x="8595360" y="1645920"/>
            <a:ext cx="2926080" cy="914400"/>
          </a:xfrm>
          <a:prstGeom prst="roundRect">
            <a:avLst>
              <a:gd name="adj" fmla="val 12000"/>
            </a:avLst>
          </a:prstGeom>
          <a:solidFill>
            <a:schemeClr val="tx2"/>
          </a:solidFill>
          <a:ln/>
        </p:spPr>
      </p:sp>
      <p:sp>
        <p:nvSpPr>
          <p:cNvPr id="11" name="Text 9"/>
          <p:cNvSpPr txBox="1"/>
          <p:nvPr/>
        </p:nvSpPr>
        <p:spPr>
          <a:xfrm>
            <a:off x="8595360" y="1645920"/>
            <a:ext cx="2926080" cy="914400"/>
          </a:xfrm>
          <a:prstGeom prst="rect">
            <a:avLst/>
          </a:prstGeom>
          <a:noFill/>
          <a:ln/>
        </p:spPr>
        <p:txBody>
          <a:bodyPr wrap="square" lIns="0" tIns="0" rIns="0" bIns="0" rtlCol="0" anchor="ctr"/>
          <a:lstStyle/>
          <a:p>
            <a:pPr algn="ctr" indent="0" marL="0">
              <a:buNone/>
            </a:pPr>
            <a:r>
              <a:rPr lang="en-US" sz="2000" b="1" dirty="0">
                <a:solidFill>
                  <a:schemeClr val="bg1"/>
                </a:solidFill>
              </a:rPr>
              <a:t>ASP.NET</a:t>
            </a:r>
            <a:endParaRPr lang="en-US" sz="2000" dirty="0"/>
          </a:p>
          <a:p>
            <a:pPr algn="ctr" indent="0" marL="0">
              <a:buNone/>
            </a:pPr>
            <a:r>
              <a:rPr lang="en-US" sz="1400" dirty="0">
                <a:solidFill>
                  <a:schemeClr val="bg1"/>
                </a:solidFill>
              </a:rPr>
              <a:t>Manager action</a:t>
            </a:r>
            <a:endParaRPr lang="en-US" sz="2000" dirty="0"/>
          </a:p>
        </p:txBody>
      </p:sp>
      <p:sp>
        <p:nvSpPr>
          <p:cNvPr id="12" name="Process 1 card"/>
          <p:cNvSpPr/>
          <p:nvPr/>
        </p:nvSpPr>
        <p:spPr>
          <a:xfrm>
            <a:off x="640080" y="2926080"/>
            <a:ext cx="5486400" cy="3291840"/>
          </a:xfrm>
          <a:prstGeom prst="roundRect">
            <a:avLst>
              <a:gd name="adj" fmla="val 3333"/>
            </a:avLst>
          </a:prstGeom>
          <a:solidFill>
            <a:schemeClr val="tx2"/>
          </a:solidFill>
          <a:ln/>
        </p:spPr>
      </p:sp>
      <p:sp>
        <p:nvSpPr>
          <p:cNvPr id="13" name="Text 11"/>
          <p:cNvSpPr txBox="1"/>
          <p:nvPr/>
        </p:nvSpPr>
        <p:spPr>
          <a:xfrm>
            <a:off x="914400" y="3108960"/>
            <a:ext cx="493776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Process 1: Booking Request &amp; Approval</a:t>
            </a:r>
            <a:endParaRPr lang="en-US" sz="1800" dirty="0"/>
          </a:p>
        </p:txBody>
      </p:sp>
      <p:sp>
        <p:nvSpPr>
          <p:cNvPr id="14" name="Text 12"/>
          <p:cNvSpPr txBox="1"/>
          <p:nvPr/>
        </p:nvSpPr>
        <p:spPr>
          <a:xfrm>
            <a:off x="914400" y="3611880"/>
            <a:ext cx="4937760" cy="24688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bg1"/>
                </a:solidFill>
              </a:rPr>
              <a:t>Customer books via Flutter.</a:t>
            </a:r>
            <a:endParaRPr lang="en-US" sz="1500" dirty="0"/>
          </a:p>
          <a:p>
            <a:pPr marL="342900" indent="-342900">
              <a:spcAft>
                <a:spcPts val="600"/>
              </a:spcAft>
              <a:buSzPct val="100000"/>
              <a:buFont typeface="+mj-lt"/>
              <a:buAutoNum type="arabicPeriod" startAt="1"/>
            </a:pPr>
            <a:r>
              <a:rPr lang="en-US" sz="1500" dirty="0">
                <a:solidFill>
                  <a:schemeClr val="bg1"/>
                </a:solidFill>
              </a:rPr>
              <a:t>Supabase saves booking as “Pending”.</a:t>
            </a:r>
            <a:endParaRPr lang="en-US" sz="1500" dirty="0"/>
          </a:p>
          <a:p>
            <a:pPr marL="342900" indent="-342900">
              <a:spcAft>
                <a:spcPts val="600"/>
              </a:spcAft>
              <a:buSzPct val="100000"/>
              <a:buFont typeface="+mj-lt"/>
              <a:buAutoNum type="arabicPeriod" startAt="1"/>
            </a:pPr>
            <a:r>
              <a:rPr lang="en-US" sz="1500" dirty="0">
                <a:solidFill>
                  <a:schemeClr val="bg1"/>
                </a:solidFill>
              </a:rPr>
              <a:t>Manager views and approves in ASP.NET.</a:t>
            </a:r>
            <a:endParaRPr lang="en-US" sz="1500" dirty="0"/>
          </a:p>
          <a:p>
            <a:pPr marL="342900" indent="-342900">
              <a:spcAft>
                <a:spcPts val="600"/>
              </a:spcAft>
              <a:buSzPct val="100000"/>
              <a:buFont typeface="+mj-lt"/>
              <a:buAutoNum type="arabicPeriod" startAt="1"/>
            </a:pPr>
            <a:r>
              <a:rPr lang="en-US" sz="1500" dirty="0">
                <a:solidFill>
                  <a:schemeClr val="bg1"/>
                </a:solidFill>
              </a:rPr>
              <a:t>Supabase updates to “Confirmed”.</a:t>
            </a:r>
            <a:endParaRPr lang="en-US" sz="1500" dirty="0"/>
          </a:p>
          <a:p>
            <a:pPr marL="342900" indent="-342900">
              <a:spcAft>
                <a:spcPts val="600"/>
              </a:spcAft>
              <a:buSzPct val="100000"/>
              <a:buFont typeface="+mj-lt"/>
              <a:buAutoNum type="arabicPeriod" startAt="1"/>
            </a:pPr>
            <a:r>
              <a:rPr lang="en-US" sz="1500" dirty="0">
                <a:solidFill>
                  <a:schemeClr val="bg1"/>
                </a:solidFill>
              </a:rPr>
              <a:t>Customer refreshes Flutter and sees the update.</a:t>
            </a:r>
            <a:endParaRPr lang="en-US" sz="1500" dirty="0"/>
          </a:p>
        </p:txBody>
      </p:sp>
      <p:sp>
        <p:nvSpPr>
          <p:cNvPr id="15" name="Process 2 card"/>
          <p:cNvSpPr/>
          <p:nvPr/>
        </p:nvSpPr>
        <p:spPr>
          <a:xfrm>
            <a:off x="6400800" y="2926080"/>
            <a:ext cx="5212080" cy="3291840"/>
          </a:xfrm>
          <a:prstGeom prst="roundRect">
            <a:avLst>
              <a:gd name="adj" fmla="val 3333"/>
            </a:avLst>
          </a:prstGeom>
          <a:solidFill>
            <a:schemeClr val="tx2"/>
          </a:solidFill>
          <a:ln/>
        </p:spPr>
      </p:sp>
      <p:sp>
        <p:nvSpPr>
          <p:cNvPr id="16" name="Text 14"/>
          <p:cNvSpPr txBox="1"/>
          <p:nvPr/>
        </p:nvSpPr>
        <p:spPr>
          <a:xfrm>
            <a:off x="6675120" y="3108960"/>
            <a:ext cx="46634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Process 2: Booking Cancellation</a:t>
            </a:r>
            <a:endParaRPr lang="en-US" sz="1800" dirty="0"/>
          </a:p>
        </p:txBody>
      </p:sp>
      <p:sp>
        <p:nvSpPr>
          <p:cNvPr id="17" name="Text 15"/>
          <p:cNvSpPr txBox="1"/>
          <p:nvPr/>
        </p:nvSpPr>
        <p:spPr>
          <a:xfrm>
            <a:off x="6675120" y="3611880"/>
            <a:ext cx="4663440" cy="24688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bg1"/>
                </a:solidFill>
              </a:rPr>
              <a:t>Customer cancels via Flutter.</a:t>
            </a:r>
            <a:endParaRPr lang="en-US" sz="1500" dirty="0"/>
          </a:p>
          <a:p>
            <a:pPr marL="342900" indent="-342900">
              <a:spcAft>
                <a:spcPts val="600"/>
              </a:spcAft>
              <a:buSzPct val="100000"/>
              <a:buFont typeface="+mj-lt"/>
              <a:buAutoNum type="arabicPeriod" startAt="1"/>
            </a:pPr>
            <a:r>
              <a:rPr lang="en-US" sz="1500" dirty="0">
                <a:solidFill>
                  <a:schemeClr val="bg1"/>
                </a:solidFill>
              </a:rPr>
              <a:t>Supabase updates status to “Cancelled”.</a:t>
            </a:r>
            <a:endParaRPr lang="en-US" sz="1500" dirty="0"/>
          </a:p>
          <a:p>
            <a:pPr marL="342900" indent="-342900">
              <a:spcAft>
                <a:spcPts val="600"/>
              </a:spcAft>
              <a:buSzPct val="100000"/>
              <a:buFont typeface="+mj-lt"/>
              <a:buAutoNum type="arabicPeriod" startAt="1"/>
            </a:pPr>
            <a:r>
              <a:rPr lang="en-US" sz="1500" dirty="0">
                <a:solidFill>
                  <a:schemeClr val="bg1"/>
                </a:solidFill>
              </a:rPr>
              <a:t>Manager sees the cancellation in the ASP.NET dashboard.</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31520"/>
          </a:xfrm>
          <a:prstGeom prst="rect">
            <a:avLst/>
          </a:prstGeom>
          <a:noFill/>
          <a:ln/>
        </p:spPr>
        <p:txBody>
          <a:bodyPr wrap="square" lIns="0" tIns="0" rIns="0" bIns="0" rtlCol="0" anchor="ctr"/>
          <a:lstStyle/>
          <a:p>
            <a:pPr algn="l" indent="0" marL="0">
              <a:buNone/>
            </a:pPr>
            <a:r>
              <a:rPr lang="en-US" sz="3600" b="1" dirty="0">
                <a:solidFill>
                  <a:schemeClr val="accent1"/>
                </a:solidFill>
              </a:rPr>
              <a:t>Challenges &amp; Project Management</a:t>
            </a:r>
            <a:endParaRPr lang="en-US" sz="3600" dirty="0"/>
          </a:p>
        </p:txBody>
      </p:sp>
      <p:sp>
        <p:nvSpPr>
          <p:cNvPr id="3" name="PM card"/>
          <p:cNvSpPr/>
          <p:nvPr/>
        </p:nvSpPr>
        <p:spPr>
          <a:xfrm>
            <a:off x="640080" y="1371600"/>
            <a:ext cx="5394960" cy="4846320"/>
          </a:xfrm>
          <a:prstGeom prst="roundRect">
            <a:avLst>
              <a:gd name="adj" fmla="val 2264"/>
            </a:avLst>
          </a:prstGeom>
          <a:solidFill>
            <a:schemeClr val="tx2"/>
          </a:solidFill>
          <a:ln/>
        </p:spPr>
      </p:sp>
      <p:sp>
        <p:nvSpPr>
          <p:cNvPr id="4" name="Team icon circle"/>
          <p:cNvSpPr/>
          <p:nvPr/>
        </p:nvSpPr>
        <p:spPr>
          <a:xfrm>
            <a:off x="868680" y="1600200"/>
            <a:ext cx="594360" cy="594360"/>
          </a:xfrm>
          <a:prstGeom prst="ellipse">
            <a:avLst/>
          </a:prstGeom>
          <a:solidFill>
            <a:schemeClr val="accent1"/>
          </a:solidFill>
          <a:ln/>
        </p:spPr>
      </p:sp>
      <p:pic>
        <p:nvPicPr>
          <p:cNvPr id="5" name="Team icon" descr="Team icon">    </p:cNvPr>
          <p:cNvPicPr>
            <a:picLocks noChangeAspect="1"/>
          </p:cNvPicPr>
          <p:nvPr/>
        </p:nvPicPr>
        <p:blipFill>
          <a:blip r:embed="rId1"/>
          <a:stretch>
            <a:fillRect/>
          </a:stretch>
        </p:blipFill>
        <p:spPr>
          <a:xfrm>
            <a:off x="1017270" y="1748790"/>
            <a:ext cx="297180" cy="297180"/>
          </a:xfrm>
          <a:prstGeom prst="rect">
            <a:avLst/>
          </a:prstGeom>
        </p:spPr>
      </p:pic>
      <p:sp>
        <p:nvSpPr>
          <p:cNvPr id="6" name="Text 3"/>
          <p:cNvSpPr txBox="1"/>
          <p:nvPr/>
        </p:nvSpPr>
        <p:spPr>
          <a:xfrm>
            <a:off x="1645920" y="1600200"/>
            <a:ext cx="4206240" cy="59436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Project Management</a:t>
            </a:r>
            <a:endParaRPr lang="en-US" sz="2200" dirty="0"/>
          </a:p>
        </p:txBody>
      </p:sp>
      <p:sp>
        <p:nvSpPr>
          <p:cNvPr id="7" name="Text 4"/>
          <p:cNvSpPr txBox="1"/>
          <p:nvPr/>
        </p:nvSpPr>
        <p:spPr>
          <a:xfrm>
            <a:off x="868680" y="2514600"/>
            <a:ext cx="4937760" cy="3474720"/>
          </a:xfrm>
          <a:prstGeom prst="rect">
            <a:avLst/>
          </a:prstGeom>
          <a:noFill/>
          <a:ln/>
        </p:spPr>
        <p:txBody>
          <a:bodyPr wrap="square" lIns="0" tIns="0" rIns="0" bIns="0" rtlCol="0" anchor="t"/>
          <a:lstStyle/>
          <a:p>
            <a:pPr indent="0" marL="0">
              <a:buNone/>
            </a:pPr>
            <a:r>
              <a:rPr lang="en-US" sz="1600" b="1" dirty="0">
                <a:solidFill>
                  <a:schemeClr val="accent4"/>
                </a:solidFill>
              </a:rPr>
              <a:t>Challenge: </a:t>
            </a:r>
            <a:pPr indent="0" marL="0">
              <a:spcAft>
                <a:spcPts val="1400"/>
              </a:spcAft>
              <a:buNone/>
            </a:pPr>
            <a:r>
              <a:rPr lang="en-US" sz="1600" dirty="0">
                <a:solidFill>
                  <a:schemeClr val="bg1"/>
                </a:solidFill>
              </a:rPr>
              <a:t>Getting every member to complete tasks on time required frequent reminders.</a:t>
            </a:r>
            <a:endParaRPr lang="en-US" sz="1600" dirty="0"/>
          </a:p>
          <a:p>
            <a:pPr indent="0" marL="0">
              <a:buNone/>
            </a:pPr>
            <a:r>
              <a:rPr lang="en-US" sz="1600" b="1" dirty="0">
                <a:solidFill>
                  <a:schemeClr val="accent4"/>
                </a:solidFill>
              </a:rPr>
              <a:t>Solution: </a:t>
            </a:r>
            <a:pPr indent="0" marL="0">
              <a:buNone/>
            </a:pPr>
            <a:r>
              <a:rPr lang="en-US" sz="1600" dirty="0">
                <a:solidFill>
                  <a:schemeClr val="bg1"/>
                </a:solidFill>
              </a:rPr>
              <a:t>Weekly check-ins and the Project Progress Tracker as a single source of truth. Tasks were redistributed and peers supported each other so the ASP.NET and Flutter teams met their deadlines.</a:t>
            </a:r>
            <a:endParaRPr lang="en-US" sz="1600" dirty="0"/>
          </a:p>
        </p:txBody>
      </p:sp>
      <p:sp>
        <p:nvSpPr>
          <p:cNvPr id="8" name="Technical card"/>
          <p:cNvSpPr/>
          <p:nvPr/>
        </p:nvSpPr>
        <p:spPr>
          <a:xfrm>
            <a:off x="6309360" y="1371600"/>
            <a:ext cx="5303520" cy="4846320"/>
          </a:xfrm>
          <a:prstGeom prst="roundRect">
            <a:avLst>
              <a:gd name="adj" fmla="val 2264"/>
            </a:avLst>
          </a:prstGeom>
          <a:solidFill>
            <a:schemeClr val="tx2"/>
          </a:solidFill>
          <a:ln/>
        </p:spPr>
      </p:sp>
      <p:sp>
        <p:nvSpPr>
          <p:cNvPr id="9" name="Technical icon circle"/>
          <p:cNvSpPr/>
          <p:nvPr/>
        </p:nvSpPr>
        <p:spPr>
          <a:xfrm>
            <a:off x="6537960" y="1600200"/>
            <a:ext cx="594360" cy="594360"/>
          </a:xfrm>
          <a:prstGeom prst="ellipse">
            <a:avLst/>
          </a:prstGeom>
          <a:solidFill>
            <a:schemeClr val="accent1"/>
          </a:solidFill>
          <a:ln/>
        </p:spPr>
      </p:sp>
      <p:pic>
        <p:nvPicPr>
          <p:cNvPr id="10" name="Technical icon" descr="Technical icon">    </p:cNvPr>
          <p:cNvPicPr>
            <a:picLocks noChangeAspect="1"/>
          </p:cNvPicPr>
          <p:nvPr/>
        </p:nvPicPr>
        <p:blipFill>
          <a:blip r:embed="rId2"/>
          <a:stretch>
            <a:fillRect/>
          </a:stretch>
        </p:blipFill>
        <p:spPr>
          <a:xfrm>
            <a:off x="6686550" y="1748790"/>
            <a:ext cx="297180" cy="297180"/>
          </a:xfrm>
          <a:prstGeom prst="rect">
            <a:avLst/>
          </a:prstGeom>
        </p:spPr>
      </p:pic>
      <p:sp>
        <p:nvSpPr>
          <p:cNvPr id="11" name="Text 7"/>
          <p:cNvSpPr txBox="1"/>
          <p:nvPr/>
        </p:nvSpPr>
        <p:spPr>
          <a:xfrm>
            <a:off x="7315200" y="1600200"/>
            <a:ext cx="4114800" cy="59436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Technical Challenges</a:t>
            </a:r>
            <a:endParaRPr lang="en-US" sz="2200" dirty="0"/>
          </a:p>
        </p:txBody>
      </p:sp>
      <p:sp>
        <p:nvSpPr>
          <p:cNvPr id="12" name="Text 8"/>
          <p:cNvSpPr txBox="1"/>
          <p:nvPr/>
        </p:nvSpPr>
        <p:spPr>
          <a:xfrm>
            <a:off x="6537960" y="2514600"/>
            <a:ext cx="4846320" cy="914400"/>
          </a:xfrm>
          <a:prstGeom prst="rect">
            <a:avLst/>
          </a:prstGeom>
          <a:noFill/>
          <a:ln/>
        </p:spPr>
        <p:txBody>
          <a:bodyPr wrap="square" lIns="0" tIns="0" rIns="0" bIns="0" rtlCol="0" anchor="t"/>
          <a:lstStyle/>
          <a:p>
            <a:pPr indent="0" marL="0">
              <a:buNone/>
            </a:pPr>
            <a:r>
              <a:rPr lang="en-US" sz="1600" b="1" dirty="0">
                <a:solidFill>
                  <a:schemeClr val="accent4"/>
                </a:solidFill>
              </a:rPr>
              <a:t>Data consistency: </a:t>
            </a:r>
            <a:pPr indent="0" marL="0">
              <a:spcAft>
                <a:spcPts val="800"/>
              </a:spcAft>
              <a:buNone/>
            </a:pPr>
            <a:r>
              <a:rPr lang="en-US" sz="1600" dirty="0">
                <a:solidFill>
                  <a:schemeClr val="bg1"/>
                </a:solidFill>
              </a:rPr>
              <a:t>Flutter and ASP.NET used different status names (“Approved” vs “Confirmed”). Standardised to:</a:t>
            </a:r>
            <a:endParaRPr lang="en-US" sz="1600" dirty="0"/>
          </a:p>
        </p:txBody>
      </p:sp>
      <p:sp>
        <p:nvSpPr>
          <p:cNvPr id="13" name="Text 9"/>
          <p:cNvSpPr txBox="1"/>
          <p:nvPr/>
        </p:nvSpPr>
        <p:spPr>
          <a:xfrm>
            <a:off x="6537960" y="3520440"/>
            <a:ext cx="2286000" cy="384048"/>
          </a:xfrm>
          <a:prstGeom prst="roundRect">
            <a:avLst>
              <a:gd name="adj" fmla="val 47619"/>
            </a:avLst>
          </a:prstGeom>
          <a:solidFill>
            <a:schemeClr val="accent1"/>
          </a:solidFill>
          <a:ln/>
        </p:spPr>
        <p:txBody>
          <a:bodyPr wrap="square" lIns="0" tIns="0" rIns="0" bIns="0" rtlCol="0" anchor="ctr"/>
          <a:lstStyle/>
          <a:p>
            <a:pPr algn="ctr" indent="0" marL="0">
              <a:buNone/>
            </a:pPr>
            <a:r>
              <a:rPr lang="en-US" sz="1400" b="1" dirty="0">
                <a:solidFill>
                  <a:schemeClr val="tx1"/>
                </a:solidFill>
              </a:rPr>
              <a:t>Pending</a:t>
            </a:r>
            <a:endParaRPr lang="en-US" sz="1400" dirty="0"/>
          </a:p>
        </p:txBody>
      </p:sp>
      <p:sp>
        <p:nvSpPr>
          <p:cNvPr id="14" name="Text 10"/>
          <p:cNvSpPr txBox="1"/>
          <p:nvPr/>
        </p:nvSpPr>
        <p:spPr>
          <a:xfrm>
            <a:off x="8961120" y="3520440"/>
            <a:ext cx="2286000" cy="384048"/>
          </a:xfrm>
          <a:prstGeom prst="roundRect">
            <a:avLst>
              <a:gd name="adj" fmla="val 47619"/>
            </a:avLst>
          </a:prstGeom>
          <a:solidFill>
            <a:schemeClr val="accent1"/>
          </a:solidFill>
          <a:ln/>
        </p:spPr>
        <p:txBody>
          <a:bodyPr wrap="square" lIns="0" tIns="0" rIns="0" bIns="0" rtlCol="0" anchor="ctr"/>
          <a:lstStyle/>
          <a:p>
            <a:pPr algn="ctr" indent="0" marL="0">
              <a:buNone/>
            </a:pPr>
            <a:r>
              <a:rPr lang="en-US" sz="1400" b="1" dirty="0">
                <a:solidFill>
                  <a:schemeClr val="tx1"/>
                </a:solidFill>
              </a:rPr>
              <a:t>Confirmed</a:t>
            </a:r>
            <a:endParaRPr lang="en-US" sz="1400" dirty="0"/>
          </a:p>
        </p:txBody>
      </p:sp>
      <p:sp>
        <p:nvSpPr>
          <p:cNvPr id="15" name="Text 11"/>
          <p:cNvSpPr txBox="1"/>
          <p:nvPr/>
        </p:nvSpPr>
        <p:spPr>
          <a:xfrm>
            <a:off x="6537960" y="4023360"/>
            <a:ext cx="2286000" cy="384048"/>
          </a:xfrm>
          <a:prstGeom prst="roundRect">
            <a:avLst>
              <a:gd name="adj" fmla="val 47619"/>
            </a:avLst>
          </a:prstGeom>
          <a:solidFill>
            <a:schemeClr val="accent1"/>
          </a:solidFill>
          <a:ln/>
        </p:spPr>
        <p:txBody>
          <a:bodyPr wrap="square" lIns="0" tIns="0" rIns="0" bIns="0" rtlCol="0" anchor="ctr"/>
          <a:lstStyle/>
          <a:p>
            <a:pPr algn="ctr" indent="0" marL="0">
              <a:buNone/>
            </a:pPr>
            <a:r>
              <a:rPr lang="en-US" sz="1400" b="1" dirty="0">
                <a:solidFill>
                  <a:schemeClr val="tx1"/>
                </a:solidFill>
              </a:rPr>
              <a:t>Cancelled</a:t>
            </a:r>
            <a:endParaRPr lang="en-US" sz="1400" dirty="0"/>
          </a:p>
        </p:txBody>
      </p:sp>
      <p:sp>
        <p:nvSpPr>
          <p:cNvPr id="16" name="Text 12"/>
          <p:cNvSpPr txBox="1"/>
          <p:nvPr/>
        </p:nvSpPr>
        <p:spPr>
          <a:xfrm>
            <a:off x="8961120" y="4023360"/>
            <a:ext cx="2286000" cy="384048"/>
          </a:xfrm>
          <a:prstGeom prst="roundRect">
            <a:avLst>
              <a:gd name="adj" fmla="val 47619"/>
            </a:avLst>
          </a:prstGeom>
          <a:solidFill>
            <a:schemeClr val="accent1"/>
          </a:solidFill>
          <a:ln/>
        </p:spPr>
        <p:txBody>
          <a:bodyPr wrap="square" lIns="0" tIns="0" rIns="0" bIns="0" rtlCol="0" anchor="ctr"/>
          <a:lstStyle/>
          <a:p>
            <a:pPr algn="ctr" indent="0" marL="0">
              <a:buNone/>
            </a:pPr>
            <a:r>
              <a:rPr lang="en-US" sz="1400" b="1" dirty="0">
                <a:solidFill>
                  <a:schemeClr val="tx1"/>
                </a:solidFill>
              </a:rPr>
              <a:t>Completed</a:t>
            </a:r>
            <a:endParaRPr lang="en-US" sz="1400" dirty="0"/>
          </a:p>
        </p:txBody>
      </p:sp>
      <p:sp>
        <p:nvSpPr>
          <p:cNvPr id="17" name="Text 13"/>
          <p:cNvSpPr txBox="1"/>
          <p:nvPr/>
        </p:nvSpPr>
        <p:spPr>
          <a:xfrm>
            <a:off x="6537960" y="4754880"/>
            <a:ext cx="4846320" cy="1280160"/>
          </a:xfrm>
          <a:prstGeom prst="rect">
            <a:avLst/>
          </a:prstGeom>
          <a:noFill/>
          <a:ln/>
        </p:spPr>
        <p:txBody>
          <a:bodyPr wrap="square" lIns="0" tIns="0" rIns="0" bIns="0" rtlCol="0" anchor="t"/>
          <a:lstStyle/>
          <a:p>
            <a:pPr indent="0" marL="0">
              <a:buNone/>
            </a:pPr>
            <a:r>
              <a:rPr lang="en-US" sz="1600" b="1" dirty="0">
                <a:solidFill>
                  <a:schemeClr val="accent4"/>
                </a:solidFill>
              </a:rPr>
              <a:t>Integration: </a:t>
            </a:r>
            <a:pPr indent="0" marL="0">
              <a:buNone/>
            </a:pPr>
            <a:r>
              <a:rPr lang="en-US" sz="1600" dirty="0">
                <a:solidFill>
                  <a:schemeClr val="bg1"/>
                </a:solidFill>
              </a:rPr>
              <a:t>Resolved query mismatches and ensured proper foreign key joins between the two applications.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31520"/>
          </a:xfrm>
          <a:prstGeom prst="rect">
            <a:avLst/>
          </a:prstGeom>
          <a:noFill/>
          <a:ln/>
        </p:spPr>
        <p:txBody>
          <a:bodyPr wrap="square" lIns="0" tIns="0" rIns="0" bIns="0" rtlCol="0" anchor="ctr"/>
          <a:lstStyle/>
          <a:p>
            <a:pPr algn="l" indent="0" marL="0">
              <a:buNone/>
            </a:pPr>
            <a:r>
              <a:rPr lang="en-US" sz="3600" b="1" dirty="0">
                <a:solidFill>
                  <a:schemeClr val="accent1"/>
                </a:solidFill>
              </a:rPr>
              <a:t>Known Limitations &amp; Honest Assessment</a:t>
            </a:r>
            <a:endParaRPr lang="en-US" sz="3600" dirty="0"/>
          </a:p>
        </p:txBody>
      </p:sp>
      <p:sp>
        <p:nvSpPr>
          <p:cNvPr id="3" name="Limitation card 1"/>
          <p:cNvSpPr/>
          <p:nvPr/>
        </p:nvSpPr>
        <p:spPr>
          <a:xfrm>
            <a:off x="640080" y="1371600"/>
            <a:ext cx="5394960" cy="2286000"/>
          </a:xfrm>
          <a:prstGeom prst="roundRect">
            <a:avLst>
              <a:gd name="adj" fmla="val 4800"/>
            </a:avLst>
          </a:prstGeom>
          <a:solidFill>
            <a:schemeClr val="tx2"/>
          </a:solidFill>
          <a:ln/>
        </p:spPr>
      </p:sp>
      <p:sp>
        <p:nvSpPr>
          <p:cNvPr id="4" name="Email Reminders icon circle"/>
          <p:cNvSpPr/>
          <p:nvPr/>
        </p:nvSpPr>
        <p:spPr>
          <a:xfrm>
            <a:off x="868680" y="1600200"/>
            <a:ext cx="548640" cy="548640"/>
          </a:xfrm>
          <a:prstGeom prst="ellipse">
            <a:avLst/>
          </a:prstGeom>
          <a:solidFill>
            <a:schemeClr val="accent1"/>
          </a:solidFill>
          <a:ln/>
        </p:spPr>
      </p:sp>
      <p:pic>
        <p:nvPicPr>
          <p:cNvPr id="5" name="Email Reminders icon" descr="Email Reminders icon">    </p:cNvPr>
          <p:cNvPicPr>
            <a:picLocks noChangeAspect="1"/>
          </p:cNvPicPr>
          <p:nvPr/>
        </p:nvPicPr>
        <p:blipFill>
          <a:blip r:embed="rId1"/>
          <a:stretch>
            <a:fillRect/>
          </a:stretch>
        </p:blipFill>
        <p:spPr>
          <a:xfrm>
            <a:off x="1005840" y="1737360"/>
            <a:ext cx="274320" cy="274320"/>
          </a:xfrm>
          <a:prstGeom prst="rect">
            <a:avLst/>
          </a:prstGeom>
        </p:spPr>
      </p:pic>
      <p:sp>
        <p:nvSpPr>
          <p:cNvPr id="6" name="Text 3"/>
          <p:cNvSpPr txBox="1"/>
          <p:nvPr/>
        </p:nvSpPr>
        <p:spPr>
          <a:xfrm>
            <a:off x="1600200" y="1600200"/>
            <a:ext cx="4206240"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Email Reminders</a:t>
            </a:r>
            <a:endParaRPr lang="en-US" sz="2000" dirty="0"/>
          </a:p>
        </p:txBody>
      </p:sp>
      <p:sp>
        <p:nvSpPr>
          <p:cNvPr id="7" name="Text 4"/>
          <p:cNvSpPr txBox="1"/>
          <p:nvPr/>
        </p:nvSpPr>
        <p:spPr>
          <a:xfrm>
            <a:off x="914400" y="2331720"/>
            <a:ext cx="4846320" cy="1188720"/>
          </a:xfrm>
          <a:prstGeom prst="rect">
            <a:avLst/>
          </a:prstGeom>
          <a:noFill/>
          <a:ln/>
        </p:spPr>
        <p:txBody>
          <a:bodyPr wrap="square" lIns="0" tIns="0" rIns="0" bIns="0" rtlCol="0" anchor="t"/>
          <a:lstStyle/>
          <a:p>
            <a:pPr indent="0" marL="0">
              <a:buNone/>
            </a:pPr>
            <a:r>
              <a:rPr lang="en-US" sz="1600" dirty="0">
                <a:solidFill>
                  <a:schemeClr val="bg1"/>
                </a:solidFill>
              </a:rPr>
              <a:t>Automated reminders (FR-09) were simplified to manual reminders via the admin dashboard.</a:t>
            </a:r>
            <a:endParaRPr lang="en-US" sz="1600" dirty="0"/>
          </a:p>
        </p:txBody>
      </p:sp>
      <p:sp>
        <p:nvSpPr>
          <p:cNvPr id="8" name="Limitation card 2"/>
          <p:cNvSpPr/>
          <p:nvPr/>
        </p:nvSpPr>
        <p:spPr>
          <a:xfrm>
            <a:off x="6217920" y="1371600"/>
            <a:ext cx="5394960" cy="2286000"/>
          </a:xfrm>
          <a:prstGeom prst="roundRect">
            <a:avLst>
              <a:gd name="adj" fmla="val 4800"/>
            </a:avLst>
          </a:prstGeom>
          <a:solidFill>
            <a:schemeClr val="tx2"/>
          </a:solidFill>
          <a:ln/>
        </p:spPr>
      </p:sp>
      <p:sp>
        <p:nvSpPr>
          <p:cNvPr id="9" name="Real-time Auto-Refresh icon circle"/>
          <p:cNvSpPr/>
          <p:nvPr/>
        </p:nvSpPr>
        <p:spPr>
          <a:xfrm>
            <a:off x="6446520" y="1600200"/>
            <a:ext cx="548640" cy="548640"/>
          </a:xfrm>
          <a:prstGeom prst="ellipse">
            <a:avLst/>
          </a:prstGeom>
          <a:solidFill>
            <a:schemeClr val="accent1"/>
          </a:solidFill>
          <a:ln/>
        </p:spPr>
      </p:sp>
      <p:pic>
        <p:nvPicPr>
          <p:cNvPr id="10" name="Real-time Auto-Refresh icon" descr="Real-time Auto-Refresh icon">    </p:cNvPr>
          <p:cNvPicPr>
            <a:picLocks noChangeAspect="1"/>
          </p:cNvPicPr>
          <p:nvPr/>
        </p:nvPicPr>
        <p:blipFill>
          <a:blip r:embed="rId2"/>
          <a:stretch>
            <a:fillRect/>
          </a:stretch>
        </p:blipFill>
        <p:spPr>
          <a:xfrm>
            <a:off x="6583680" y="1737360"/>
            <a:ext cx="274320" cy="274320"/>
          </a:xfrm>
          <a:prstGeom prst="rect">
            <a:avLst/>
          </a:prstGeom>
        </p:spPr>
      </p:pic>
      <p:sp>
        <p:nvSpPr>
          <p:cNvPr id="11" name="Text 7"/>
          <p:cNvSpPr txBox="1"/>
          <p:nvPr/>
        </p:nvSpPr>
        <p:spPr>
          <a:xfrm>
            <a:off x="7178040" y="1600200"/>
            <a:ext cx="4206240"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Real-time Auto-Refresh</a:t>
            </a:r>
            <a:endParaRPr lang="en-US" sz="2000" dirty="0"/>
          </a:p>
        </p:txBody>
      </p:sp>
      <p:sp>
        <p:nvSpPr>
          <p:cNvPr id="12" name="Text 8"/>
          <p:cNvSpPr txBox="1"/>
          <p:nvPr/>
        </p:nvSpPr>
        <p:spPr>
          <a:xfrm>
            <a:off x="6492240" y="2331720"/>
            <a:ext cx="4846320" cy="1188720"/>
          </a:xfrm>
          <a:prstGeom prst="rect">
            <a:avLst/>
          </a:prstGeom>
          <a:noFill/>
          <a:ln/>
        </p:spPr>
        <p:txBody>
          <a:bodyPr wrap="square" lIns="0" tIns="0" rIns="0" bIns="0" rtlCol="0" anchor="t"/>
          <a:lstStyle/>
          <a:p>
            <a:pPr indent="0" marL="0">
              <a:buNone/>
            </a:pPr>
            <a:r>
              <a:rPr lang="en-US" sz="1600" dirty="0">
                <a:solidFill>
                  <a:schemeClr val="bg1"/>
                </a:solidFill>
              </a:rPr>
              <a:t>Flutter needs a manual refresh to show ASP.NET updates. Supabase Realtime was not fully deployed.</a:t>
            </a:r>
            <a:endParaRPr lang="en-US" sz="1600" dirty="0"/>
          </a:p>
        </p:txBody>
      </p:sp>
      <p:sp>
        <p:nvSpPr>
          <p:cNvPr id="13" name="Limitation card 3"/>
          <p:cNvSpPr/>
          <p:nvPr/>
        </p:nvSpPr>
        <p:spPr>
          <a:xfrm>
            <a:off x="640080" y="3886200"/>
            <a:ext cx="5394960" cy="2286000"/>
          </a:xfrm>
          <a:prstGeom prst="roundRect">
            <a:avLst>
              <a:gd name="adj" fmla="val 4800"/>
            </a:avLst>
          </a:prstGeom>
          <a:solidFill>
            <a:schemeClr val="tx2"/>
          </a:solidFill>
          <a:ln/>
        </p:spPr>
      </p:sp>
      <p:sp>
        <p:nvSpPr>
          <p:cNvPr id="14" name="Payment Processing icon circle"/>
          <p:cNvSpPr/>
          <p:nvPr/>
        </p:nvSpPr>
        <p:spPr>
          <a:xfrm>
            <a:off x="868680" y="4114800"/>
            <a:ext cx="548640" cy="548640"/>
          </a:xfrm>
          <a:prstGeom prst="ellipse">
            <a:avLst/>
          </a:prstGeom>
          <a:solidFill>
            <a:schemeClr val="accent1"/>
          </a:solidFill>
          <a:ln/>
        </p:spPr>
      </p:sp>
      <p:pic>
        <p:nvPicPr>
          <p:cNvPr id="15" name="Payment Processing icon" descr="Payment Processing icon">    </p:cNvPr>
          <p:cNvPicPr>
            <a:picLocks noChangeAspect="1"/>
          </p:cNvPicPr>
          <p:nvPr/>
        </p:nvPicPr>
        <p:blipFill>
          <a:blip r:embed="rId3"/>
          <a:stretch>
            <a:fillRect/>
          </a:stretch>
        </p:blipFill>
        <p:spPr>
          <a:xfrm>
            <a:off x="1005840" y="4251960"/>
            <a:ext cx="274320" cy="274320"/>
          </a:xfrm>
          <a:prstGeom prst="rect">
            <a:avLst/>
          </a:prstGeom>
        </p:spPr>
      </p:pic>
      <p:sp>
        <p:nvSpPr>
          <p:cNvPr id="16" name="Text 11"/>
          <p:cNvSpPr txBox="1"/>
          <p:nvPr/>
        </p:nvSpPr>
        <p:spPr>
          <a:xfrm>
            <a:off x="1600200" y="4114800"/>
            <a:ext cx="4206240"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Payment Processing</a:t>
            </a:r>
            <a:endParaRPr lang="en-US" sz="2000" dirty="0"/>
          </a:p>
        </p:txBody>
      </p:sp>
      <p:sp>
        <p:nvSpPr>
          <p:cNvPr id="17" name="Text 12"/>
          <p:cNvSpPr txBox="1"/>
          <p:nvPr/>
        </p:nvSpPr>
        <p:spPr>
          <a:xfrm>
            <a:off x="914400" y="4846320"/>
            <a:ext cx="4846320" cy="1188720"/>
          </a:xfrm>
          <a:prstGeom prst="rect">
            <a:avLst/>
          </a:prstGeom>
          <a:noFill/>
          <a:ln/>
        </p:spPr>
        <p:txBody>
          <a:bodyPr wrap="square" lIns="0" tIns="0" rIns="0" bIns="0" rtlCol="0" anchor="t"/>
          <a:lstStyle/>
          <a:p>
            <a:pPr indent="0" marL="0">
              <a:buNone/>
            </a:pPr>
            <a:r>
              <a:rPr lang="en-US" sz="1600" dirty="0">
                <a:solidFill>
                  <a:schemeClr val="bg1"/>
                </a:solidFill>
              </a:rPr>
              <a:t>Cash/Card selection is a preference only. No online payment gateway is integrated.</a:t>
            </a:r>
            <a:endParaRPr lang="en-US" sz="1600" dirty="0"/>
          </a:p>
        </p:txBody>
      </p:sp>
      <p:sp>
        <p:nvSpPr>
          <p:cNvPr id="18" name="Limitation card 4"/>
          <p:cNvSpPr/>
          <p:nvPr/>
        </p:nvSpPr>
        <p:spPr>
          <a:xfrm>
            <a:off x="6217920" y="3886200"/>
            <a:ext cx="5394960" cy="2286000"/>
          </a:xfrm>
          <a:prstGeom prst="roundRect">
            <a:avLst>
              <a:gd name="adj" fmla="val 4800"/>
            </a:avLst>
          </a:prstGeom>
          <a:solidFill>
            <a:schemeClr val="tx2"/>
          </a:solidFill>
          <a:ln/>
        </p:spPr>
      </p:sp>
      <p:sp>
        <p:nvSpPr>
          <p:cNvPr id="19" name="Customer Reviews icon circle"/>
          <p:cNvSpPr/>
          <p:nvPr/>
        </p:nvSpPr>
        <p:spPr>
          <a:xfrm>
            <a:off x="6446520" y="4114800"/>
            <a:ext cx="548640" cy="548640"/>
          </a:xfrm>
          <a:prstGeom prst="ellipse">
            <a:avLst/>
          </a:prstGeom>
          <a:solidFill>
            <a:schemeClr val="accent1"/>
          </a:solidFill>
          <a:ln/>
        </p:spPr>
      </p:sp>
      <p:pic>
        <p:nvPicPr>
          <p:cNvPr id="20" name="Customer Reviews icon" descr="Customer Reviews icon">    </p:cNvPr>
          <p:cNvPicPr>
            <a:picLocks noChangeAspect="1"/>
          </p:cNvPicPr>
          <p:nvPr/>
        </p:nvPicPr>
        <p:blipFill>
          <a:blip r:embed="rId4"/>
          <a:stretch>
            <a:fillRect/>
          </a:stretch>
        </p:blipFill>
        <p:spPr>
          <a:xfrm>
            <a:off x="6583680" y="4251960"/>
            <a:ext cx="274320" cy="274320"/>
          </a:xfrm>
          <a:prstGeom prst="rect">
            <a:avLst/>
          </a:prstGeom>
        </p:spPr>
      </p:pic>
      <p:sp>
        <p:nvSpPr>
          <p:cNvPr id="21" name="Text 15"/>
          <p:cNvSpPr txBox="1"/>
          <p:nvPr/>
        </p:nvSpPr>
        <p:spPr>
          <a:xfrm>
            <a:off x="7178040" y="4114800"/>
            <a:ext cx="4206240"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Customer Reviews</a:t>
            </a:r>
            <a:endParaRPr lang="en-US" sz="2000" dirty="0"/>
          </a:p>
        </p:txBody>
      </p:sp>
      <p:sp>
        <p:nvSpPr>
          <p:cNvPr id="22" name="Text 16"/>
          <p:cNvSpPr txBox="1"/>
          <p:nvPr/>
        </p:nvSpPr>
        <p:spPr>
          <a:xfrm>
            <a:off x="6492240" y="4846320"/>
            <a:ext cx="4846320" cy="1188720"/>
          </a:xfrm>
          <a:prstGeom prst="rect">
            <a:avLst/>
          </a:prstGeom>
          <a:noFill/>
          <a:ln/>
        </p:spPr>
        <p:txBody>
          <a:bodyPr wrap="square" lIns="0" tIns="0" rIns="0" bIns="0" rtlCol="0" anchor="t"/>
          <a:lstStyle/>
          <a:p>
            <a:pPr indent="0" marL="0">
              <a:buNone/>
            </a:pPr>
            <a:r>
              <a:rPr lang="en-US" sz="1600" dirty="0">
                <a:solidFill>
                  <a:schemeClr val="bg1"/>
                </a:solidFill>
              </a:rPr>
              <a:t>Submitting reviews from Flutter is partial; manager viewing and follow-up is fully functional.</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31520"/>
          </a:xfrm>
          <a:prstGeom prst="rect">
            <a:avLst/>
          </a:prstGeom>
          <a:noFill/>
          <a:ln/>
        </p:spPr>
        <p:txBody>
          <a:bodyPr wrap="square" lIns="0" tIns="0" rIns="0" bIns="0" rtlCol="0" anchor="ctr"/>
          <a:lstStyle/>
          <a:p>
            <a:pPr algn="l" indent="0" marL="0">
              <a:buNone/>
            </a:pPr>
            <a:r>
              <a:rPr lang="en-US" sz="3600" b="1" dirty="0">
                <a:solidFill>
                  <a:schemeClr val="accent1"/>
                </a:solidFill>
              </a:rPr>
              <a:t>Summary &amp; Conclusion</a:t>
            </a:r>
            <a:endParaRPr lang="en-US" sz="3600" dirty="0"/>
          </a:p>
        </p:txBody>
      </p:sp>
      <p:sp>
        <p:nvSpPr>
          <p:cNvPr id="3" name="Delivered icon circle"/>
          <p:cNvSpPr/>
          <p:nvPr/>
        </p:nvSpPr>
        <p:spPr>
          <a:xfrm>
            <a:off x="640080" y="1508760"/>
            <a:ext cx="548640" cy="548640"/>
          </a:xfrm>
          <a:prstGeom prst="ellipse">
            <a:avLst/>
          </a:prstGeom>
          <a:solidFill>
            <a:schemeClr val="accent1"/>
          </a:solidFill>
          <a:ln/>
        </p:spPr>
      </p:sp>
      <p:pic>
        <p:nvPicPr>
          <p:cNvPr id="4" name="Delivered icon" descr="Delivered icon">    </p:cNvPr>
          <p:cNvPicPr>
            <a:picLocks noChangeAspect="1"/>
          </p:cNvPicPr>
          <p:nvPr/>
        </p:nvPicPr>
        <p:blipFill>
          <a:blip r:embed="rId1"/>
          <a:stretch>
            <a:fillRect/>
          </a:stretch>
        </p:blipFill>
        <p:spPr>
          <a:xfrm>
            <a:off x="777240" y="1645920"/>
            <a:ext cx="274320" cy="274320"/>
          </a:xfrm>
          <a:prstGeom prst="rect">
            <a:avLst/>
          </a:prstGeom>
        </p:spPr>
      </p:pic>
      <p:sp>
        <p:nvSpPr>
          <p:cNvPr id="5" name="Text 2"/>
          <p:cNvSpPr txBox="1"/>
          <p:nvPr/>
        </p:nvSpPr>
        <p:spPr>
          <a:xfrm>
            <a:off x="1417320" y="1371600"/>
            <a:ext cx="5486400" cy="960120"/>
          </a:xfrm>
          <a:prstGeom prst="rect">
            <a:avLst/>
          </a:prstGeom>
          <a:noFill/>
          <a:ln/>
        </p:spPr>
        <p:txBody>
          <a:bodyPr wrap="square" lIns="0" tIns="0" rIns="0" bIns="0" rtlCol="0" anchor="ctr"/>
          <a:lstStyle/>
          <a:p>
            <a:pPr indent="0" marL="0">
              <a:buNone/>
            </a:pPr>
            <a:r>
              <a:rPr lang="en-US" sz="1800" b="1" dirty="0">
                <a:solidFill>
                  <a:schemeClr val="accent4"/>
                </a:solidFill>
              </a:rPr>
              <a:t>Delivered</a:t>
            </a:r>
            <a:endParaRPr lang="en-US" sz="1800" dirty="0"/>
          </a:p>
          <a:p>
            <a:pPr indent="0" marL="0">
              <a:buNone/>
            </a:pPr>
            <a:r>
              <a:rPr lang="en-US" sz="1600" dirty="0">
                <a:solidFill>
                  <a:schemeClr val="bg1"/>
                </a:solidFill>
              </a:rPr>
              <a:t>A fully integrated, secure and functional prototype.</a:t>
            </a:r>
            <a:endParaRPr lang="en-US" sz="1800" dirty="0"/>
          </a:p>
        </p:txBody>
      </p:sp>
      <p:sp>
        <p:nvSpPr>
          <p:cNvPr id="6" name="Stakeholder Value icon circle"/>
          <p:cNvSpPr/>
          <p:nvPr/>
        </p:nvSpPr>
        <p:spPr>
          <a:xfrm>
            <a:off x="640080" y="2697480"/>
            <a:ext cx="548640" cy="548640"/>
          </a:xfrm>
          <a:prstGeom prst="ellipse">
            <a:avLst/>
          </a:prstGeom>
          <a:solidFill>
            <a:schemeClr val="accent1"/>
          </a:solidFill>
          <a:ln/>
        </p:spPr>
      </p:sp>
      <p:pic>
        <p:nvPicPr>
          <p:cNvPr id="7" name="Stakeholder Value icon" descr="Stakeholder Value icon">    </p:cNvPr>
          <p:cNvPicPr>
            <a:picLocks noChangeAspect="1"/>
          </p:cNvPicPr>
          <p:nvPr/>
        </p:nvPicPr>
        <p:blipFill>
          <a:blip r:embed="rId2"/>
          <a:stretch>
            <a:fillRect/>
          </a:stretch>
        </p:blipFill>
        <p:spPr>
          <a:xfrm>
            <a:off x="777240" y="2834640"/>
            <a:ext cx="274320" cy="274320"/>
          </a:xfrm>
          <a:prstGeom prst="rect">
            <a:avLst/>
          </a:prstGeom>
        </p:spPr>
      </p:pic>
      <p:sp>
        <p:nvSpPr>
          <p:cNvPr id="8" name="Text 4"/>
          <p:cNvSpPr txBox="1"/>
          <p:nvPr/>
        </p:nvSpPr>
        <p:spPr>
          <a:xfrm>
            <a:off x="1417320" y="2560320"/>
            <a:ext cx="5486400" cy="960120"/>
          </a:xfrm>
          <a:prstGeom prst="rect">
            <a:avLst/>
          </a:prstGeom>
          <a:noFill/>
          <a:ln/>
        </p:spPr>
        <p:txBody>
          <a:bodyPr wrap="square" lIns="0" tIns="0" rIns="0" bIns="0" rtlCol="0" anchor="ctr"/>
          <a:lstStyle/>
          <a:p>
            <a:pPr indent="0" marL="0">
              <a:buNone/>
            </a:pPr>
            <a:r>
              <a:rPr lang="en-US" sz="1800" b="1" dirty="0">
                <a:solidFill>
                  <a:schemeClr val="accent4"/>
                </a:solidFill>
              </a:rPr>
              <a:t>Stakeholder Value</a:t>
            </a:r>
            <a:endParaRPr lang="en-US" sz="1800" dirty="0"/>
          </a:p>
          <a:p>
            <a:pPr indent="0" marL="0">
              <a:buNone/>
            </a:pPr>
            <a:r>
              <a:rPr lang="en-US" sz="1600" dirty="0">
                <a:solidFill>
                  <a:schemeClr val="bg1"/>
                </a:solidFill>
              </a:rPr>
              <a:t>Solves double bookings, streamlines salon operations and provides a luxury digital experience.</a:t>
            </a:r>
            <a:endParaRPr lang="en-US" sz="1800" dirty="0"/>
          </a:p>
        </p:txBody>
      </p:sp>
      <p:sp>
        <p:nvSpPr>
          <p:cNvPr id="9" name="Project Status icon circle"/>
          <p:cNvSpPr/>
          <p:nvPr/>
        </p:nvSpPr>
        <p:spPr>
          <a:xfrm>
            <a:off x="640080" y="3886200"/>
            <a:ext cx="548640" cy="548640"/>
          </a:xfrm>
          <a:prstGeom prst="ellipse">
            <a:avLst/>
          </a:prstGeom>
          <a:solidFill>
            <a:schemeClr val="accent1"/>
          </a:solidFill>
          <a:ln/>
        </p:spPr>
      </p:sp>
      <p:pic>
        <p:nvPicPr>
          <p:cNvPr id="10" name="Project Status icon" descr="Project Status icon">    </p:cNvPr>
          <p:cNvPicPr>
            <a:picLocks noChangeAspect="1"/>
          </p:cNvPicPr>
          <p:nvPr/>
        </p:nvPicPr>
        <p:blipFill>
          <a:blip r:embed="rId3"/>
          <a:stretch>
            <a:fillRect/>
          </a:stretch>
        </p:blipFill>
        <p:spPr>
          <a:xfrm>
            <a:off x="777240" y="4023360"/>
            <a:ext cx="274320" cy="274320"/>
          </a:xfrm>
          <a:prstGeom prst="rect">
            <a:avLst/>
          </a:prstGeom>
        </p:spPr>
      </p:pic>
      <p:sp>
        <p:nvSpPr>
          <p:cNvPr id="11" name="Text 6"/>
          <p:cNvSpPr txBox="1"/>
          <p:nvPr/>
        </p:nvSpPr>
        <p:spPr>
          <a:xfrm>
            <a:off x="1417320" y="3749040"/>
            <a:ext cx="5486400" cy="960120"/>
          </a:xfrm>
          <a:prstGeom prst="rect">
            <a:avLst/>
          </a:prstGeom>
          <a:noFill/>
          <a:ln/>
        </p:spPr>
        <p:txBody>
          <a:bodyPr wrap="square" lIns="0" tIns="0" rIns="0" bIns="0" rtlCol="0" anchor="ctr"/>
          <a:lstStyle/>
          <a:p>
            <a:pPr indent="0" marL="0">
              <a:buNone/>
            </a:pPr>
            <a:r>
              <a:rPr lang="en-US" sz="1800" b="1" dirty="0">
                <a:solidFill>
                  <a:schemeClr val="accent4"/>
                </a:solidFill>
              </a:rPr>
              <a:t>Project Status</a:t>
            </a:r>
            <a:endParaRPr lang="en-US" sz="1800" dirty="0"/>
          </a:p>
          <a:p>
            <a:pPr indent="0" marL="0">
              <a:buNone/>
            </a:pPr>
            <a:r>
              <a:rPr lang="en-US" sz="1600" dirty="0">
                <a:solidFill>
                  <a:schemeClr val="bg1"/>
                </a:solidFill>
              </a:rPr>
              <a:t>Complete. Ready for formal testing and handover.</a:t>
            </a:r>
            <a:endParaRPr lang="en-US" sz="1800" dirty="0"/>
          </a:p>
        </p:txBody>
      </p:sp>
      <p:sp>
        <p:nvSpPr>
          <p:cNvPr id="12" name="Source Code icon circle"/>
          <p:cNvSpPr/>
          <p:nvPr/>
        </p:nvSpPr>
        <p:spPr>
          <a:xfrm>
            <a:off x="640080" y="5074920"/>
            <a:ext cx="548640" cy="548640"/>
          </a:xfrm>
          <a:prstGeom prst="ellipse">
            <a:avLst/>
          </a:prstGeom>
          <a:solidFill>
            <a:schemeClr val="accent1"/>
          </a:solidFill>
          <a:ln/>
        </p:spPr>
      </p:sp>
      <p:pic>
        <p:nvPicPr>
          <p:cNvPr id="13" name="Source Code icon" descr="Source Code icon">    </p:cNvPr>
          <p:cNvPicPr>
            <a:picLocks noChangeAspect="1"/>
          </p:cNvPicPr>
          <p:nvPr/>
        </p:nvPicPr>
        <p:blipFill>
          <a:blip r:embed="rId4"/>
          <a:stretch>
            <a:fillRect/>
          </a:stretch>
        </p:blipFill>
        <p:spPr>
          <a:xfrm>
            <a:off x="777240" y="5212080"/>
            <a:ext cx="274320" cy="274320"/>
          </a:xfrm>
          <a:prstGeom prst="rect">
            <a:avLst/>
          </a:prstGeom>
        </p:spPr>
      </p:pic>
      <p:sp>
        <p:nvSpPr>
          <p:cNvPr id="14" name="Text 8"/>
          <p:cNvSpPr txBox="1"/>
          <p:nvPr/>
        </p:nvSpPr>
        <p:spPr>
          <a:xfrm>
            <a:off x="1417320" y="4937760"/>
            <a:ext cx="5486400" cy="960120"/>
          </a:xfrm>
          <a:prstGeom prst="rect">
            <a:avLst/>
          </a:prstGeom>
          <a:noFill/>
          <a:ln/>
        </p:spPr>
        <p:txBody>
          <a:bodyPr wrap="square" lIns="0" tIns="0" rIns="0" bIns="0" rtlCol="0" anchor="ctr"/>
          <a:lstStyle/>
          <a:p>
            <a:pPr indent="0" marL="0">
              <a:buNone/>
            </a:pPr>
            <a:r>
              <a:rPr lang="en-US" sz="1800" b="1" dirty="0">
                <a:solidFill>
                  <a:schemeClr val="accent4"/>
                </a:solidFill>
              </a:rPr>
              <a:t>Source Code</a:t>
            </a:r>
            <a:endParaRPr lang="en-US" sz="1800" dirty="0"/>
          </a:p>
          <a:p>
            <a:pPr indent="0" marL="0">
              <a:buNone/>
            </a:pPr>
            <a:r>
              <a:rPr lang="en-US" sz="1600" dirty="0">
                <a:solidFill>
                  <a:schemeClr val="bg1"/>
                </a:solidFill>
              </a:rPr>
              <a:t>Available on GitHub with full setup instructions.</a:t>
            </a:r>
            <a:endParaRPr lang="en-US" sz="1800" dirty="0"/>
          </a:p>
        </p:txBody>
      </p:sp>
      <p:sp>
        <p:nvSpPr>
          <p:cNvPr id="15" name="GitHub card"/>
          <p:cNvSpPr/>
          <p:nvPr/>
        </p:nvSpPr>
        <p:spPr>
          <a:xfrm>
            <a:off x="7406640" y="1371600"/>
            <a:ext cx="4206240" cy="3291840"/>
          </a:xfrm>
          <a:prstGeom prst="roundRect">
            <a:avLst>
              <a:gd name="adj" fmla="val 3333"/>
            </a:avLst>
          </a:prstGeom>
          <a:solidFill>
            <a:schemeClr val="tx2"/>
          </a:solidFill>
          <a:ln/>
        </p:spPr>
      </p:sp>
      <p:sp>
        <p:nvSpPr>
          <p:cNvPr id="16" name="GitHub icon circle"/>
          <p:cNvSpPr/>
          <p:nvPr/>
        </p:nvSpPr>
        <p:spPr>
          <a:xfrm>
            <a:off x="7680960" y="1645920"/>
            <a:ext cx="731520" cy="731520"/>
          </a:xfrm>
          <a:prstGeom prst="ellipse">
            <a:avLst/>
          </a:prstGeom>
          <a:solidFill>
            <a:schemeClr val="accent1"/>
          </a:solidFill>
          <a:ln/>
        </p:spPr>
      </p:sp>
      <p:pic>
        <p:nvPicPr>
          <p:cNvPr id="17" name="GitHub icon" descr="GitHub icon">    </p:cNvPr>
          <p:cNvPicPr>
            <a:picLocks noChangeAspect="1"/>
          </p:cNvPicPr>
          <p:nvPr/>
        </p:nvPicPr>
        <p:blipFill>
          <a:blip r:embed="rId5"/>
          <a:stretch>
            <a:fillRect/>
          </a:stretch>
        </p:blipFill>
        <p:spPr>
          <a:xfrm>
            <a:off x="7863840" y="1828800"/>
            <a:ext cx="365760" cy="365760"/>
          </a:xfrm>
          <a:prstGeom prst="rect">
            <a:avLst/>
          </a:prstGeom>
        </p:spPr>
      </p:pic>
      <p:sp>
        <p:nvSpPr>
          <p:cNvPr id="18" name="Text 11"/>
          <p:cNvSpPr txBox="1"/>
          <p:nvPr/>
        </p:nvSpPr>
        <p:spPr>
          <a:xfrm>
            <a:off x="8595360" y="1645920"/>
            <a:ext cx="2834640" cy="7315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GitHub Repository</a:t>
            </a:r>
            <a:endParaRPr lang="en-US" sz="2000" dirty="0"/>
          </a:p>
        </p:txBody>
      </p:sp>
      <p:sp>
        <p:nvSpPr>
          <p:cNvPr id="19" name="Text 12"/>
          <p:cNvSpPr txBox="1"/>
          <p:nvPr/>
        </p:nvSpPr>
        <p:spPr>
          <a:xfrm>
            <a:off x="7680960" y="2743200"/>
            <a:ext cx="3657600" cy="457200"/>
          </a:xfrm>
          <a:prstGeom prst="rect">
            <a:avLst/>
          </a:prstGeom>
          <a:noFill/>
          <a:ln/>
        </p:spPr>
        <p:txBody>
          <a:bodyPr wrap="square" lIns="0" tIns="0" rIns="0" bIns="0" rtlCol="0" anchor="ctr"/>
          <a:lstStyle/>
          <a:p>
            <a:pPr indent="0" marL="0">
              <a:buNone/>
            </a:pPr>
            <a:r>
              <a:rPr lang="en-US" sz="1600" u="sng" dirty="0">
                <a:solidFill>
                  <a:schemeClr val="accent4"/>
                </a:solidFill>
                <a:hlinkClick r:id="rId6" invalidUrl="" action="" tgtFrame="" tooltip="" history="1" highlightClick="0" endSnd="0">
                  <a:extLst>
                    <a:ext uri="{A12FA001-AC4F-418D-AE19-62706E023703}">
                      <ahyp:hlinkClr xmlns:ahyp="http://schemas.microsoft.com/office/drawing/2018/hyperlinkcolor" val="tx"/>
                    </a:ext>
                  </a:extLst>
                </a:hlinkClick>
              </a:rPr>
              <a:t>github.com/Yamkela47/Group-B-</a:t>
            </a:r>
            <a:endParaRPr lang="en-US" sz="1600" dirty="0"/>
          </a:p>
        </p:txBody>
      </p:sp>
      <p:sp>
        <p:nvSpPr>
          <p:cNvPr id="20" name="Text 13"/>
          <p:cNvSpPr txBox="1"/>
          <p:nvPr/>
        </p:nvSpPr>
        <p:spPr>
          <a:xfrm>
            <a:off x="7680960" y="3291840"/>
            <a:ext cx="3657600" cy="731520"/>
          </a:xfrm>
          <a:prstGeom prst="rect">
            <a:avLst/>
          </a:prstGeom>
          <a:noFill/>
          <a:ln/>
        </p:spPr>
        <p:txBody>
          <a:bodyPr wrap="square" lIns="0" tIns="0" rIns="0" bIns="0" rtlCol="0" anchor="t"/>
          <a:lstStyle/>
          <a:p>
            <a:pPr indent="0" marL="0">
              <a:buNone/>
            </a:pPr>
            <a:r>
              <a:rPr lang="en-US" sz="1400" dirty="0">
                <a:solidFill>
                  <a:schemeClr val="bg2"/>
                </a:solidFill>
              </a:rPr>
              <a:t>Contains the mobile/ and web/ folders.</a:t>
            </a:r>
            <a:endParaRPr lang="en-US" sz="1400" dirty="0"/>
          </a:p>
        </p:txBody>
      </p:sp>
      <p:sp>
        <p:nvSpPr>
          <p:cNvPr id="21" name="Text 14"/>
          <p:cNvSpPr txBox="1"/>
          <p:nvPr/>
        </p:nvSpPr>
        <p:spPr>
          <a:xfrm>
            <a:off x="7406640" y="5029200"/>
            <a:ext cx="4206240" cy="822960"/>
          </a:xfrm>
          <a:prstGeom prst="rect">
            <a:avLst/>
          </a:prstGeom>
          <a:noFill/>
          <a:ln/>
        </p:spPr>
        <p:txBody>
          <a:bodyPr wrap="square" lIns="0" tIns="0" rIns="0" bIns="0" rtlCol="0" anchor="ctr"/>
          <a:lstStyle/>
          <a:p>
            <a:pPr algn="l" indent="0" marL="0">
              <a:buNone/>
            </a:pPr>
            <a:r>
              <a:rPr lang="en-US" sz="2800" b="1" dirty="0">
                <a:solidFill>
                  <a:schemeClr val="accent1"/>
                </a:solidFill>
                <a:latin typeface="Cambria" pitchFamily="34" charset="0"/>
                <a:ea typeface="Cambria" pitchFamily="34" charset="-122"/>
                <a:cs typeface="Cambria" pitchFamily="34" charset="-120"/>
              </a:rPr>
              <a:t>Thank you. Questions?</a:t>
            </a:r>
            <a:endParaRPr lang="en-US" sz="2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9A9A"/>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utting Edge">
  <a:themeElements>
    <a:clrScheme name="Cutting Edge">
      <a:dk1>
        <a:srgbClr val="0D0D0D"/>
      </a:dk1>
      <a:lt1>
        <a:srgbClr val="FFFFFF"/>
      </a:lt1>
      <a:dk2>
        <a:srgbClr val="1E1E1E"/>
      </a:dk2>
      <a:lt2>
        <a:srgbClr val="B9B9B9"/>
      </a:lt2>
      <a:accent1>
        <a:srgbClr val="D4AF37"/>
      </a:accent1>
      <a:accent2>
        <a:srgbClr val="8A6D1F"/>
      </a:accent2>
      <a:accent3>
        <a:srgbClr val="3A3A3A"/>
      </a:accent3>
      <a:accent4>
        <a:srgbClr val="F2D675"/>
      </a:accent4>
      <a:accent5>
        <a:srgbClr val="6B6B6B"/>
      </a:accent5>
      <a:accent6>
        <a:srgbClr val="E5E5E5"/>
      </a:accent6>
      <a:hlink>
        <a:srgbClr val="F2D675"/>
      </a:hlink>
      <a:folHlink>
        <a:srgbClr val="D4AF37"/>
      </a:folHlink>
    </a:clrScheme>
    <a:fontScheme name="Cutting Ed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Cutting Edge Salon – Final Prototype &amp; Live Demonstration</dc:title>
  <dc:subject>PptxGenJS Presentation</dc:subject>
  <dc:creator>Framework Fanatics</dc:creator>
  <cp:lastModifiedBy>Framework Fanatics</cp:lastModifiedBy>
  <cp:revision>1</cp:revision>
  <dcterms:created xsi:type="dcterms:W3CDTF">2026-10-25T00:45:56Z</dcterms:created>
  <dcterms:modified xsi:type="dcterms:W3CDTF">2026-10-25T00:45:56Z</dcterms:modified>
</cp:coreProperties>
</file>